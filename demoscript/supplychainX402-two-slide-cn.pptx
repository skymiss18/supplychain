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12700"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71426"/>
                </a:solid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4D5FF"/>
          </a:solidFill>
          <a:ln w="12700">
            <a:solidFill>
              <a:srgbClr val="24D5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4" name="直接连接符 3"/>
          <p:cNvCxnSpPr/>
          <p:nvPr/>
        </p:nvCxnSpPr>
        <p:spPr>
          <a:xfrm>
            <a:off x="609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1066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1524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1981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438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>
            <a:off x="2895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3352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3810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4267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4724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181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5638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6096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553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7010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7467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7924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8382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8839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9296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9753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10210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10668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11125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11582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381000" y="4318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381000" y="8890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>
            <a:off x="381000" y="13462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81000" y="18034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381000" y="22606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381000" y="27178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81000" y="31750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381000" y="36322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381000" y="40894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>
            <a:off x="381000" y="45466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381000" y="50038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381000" y="54610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直接连接符 40"/>
          <p:cNvCxnSpPr/>
          <p:nvPr/>
        </p:nvCxnSpPr>
        <p:spPr>
          <a:xfrm>
            <a:off x="381000" y="59182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直接连接符 41"/>
          <p:cNvCxnSpPr/>
          <p:nvPr/>
        </p:nvCxnSpPr>
        <p:spPr>
          <a:xfrm>
            <a:off x="381000" y="63754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3" name="矩形 42"/>
          <p:cNvSpPr/>
          <p:nvPr/>
        </p:nvSpPr>
        <p:spPr>
          <a:xfrm>
            <a:off x="0" y="50800"/>
            <a:ext cx="12192000" cy="6413500"/>
          </a:xfrm>
          <a:prstGeom prst="rect">
            <a:avLst/>
          </a:prstGeom>
          <a:solidFill>
            <a:srgbClr val="071426">
              <a:alpha val="90000"/>
            </a:srgbClr>
          </a:solidFill>
          <a:ln w="12700"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71426"/>
                </a:solid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44" name="直接连接符 43"/>
          <p:cNvCxnSpPr/>
          <p:nvPr/>
        </p:nvCxnSpPr>
        <p:spPr>
          <a:xfrm>
            <a:off x="609600" y="6502400"/>
            <a:ext cx="10972800" cy="635"/>
          </a:xfrm>
          <a:prstGeom prst="line">
            <a:avLst/>
          </a:prstGeom>
          <a:ln w="9525">
            <a:solidFill>
              <a:srgbClr val="24466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609600" y="6578600"/>
            <a:ext cx="15875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40" b="1">
                <a:solidFill>
                  <a:srgbClr val="7894AF"/>
                </a:solidFill>
                <a:latin typeface="Aptos" charset="0"/>
                <a:cs typeface="Aptos" charset="0"/>
              </a:rPr>
              <a:t>SUPPLYCHAINX402</a:t>
            </a:r>
            <a:endParaRPr lang="en-US" altLang="en-US" sz="940" b="1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9448800" y="6578600"/>
            <a:ext cx="1879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r"/>
            <a:r>
              <a:rPr lang="en-US" altLang="en-US" sz="1070" b="1">
                <a:solidFill>
                  <a:srgbClr val="7894AF"/>
                </a:solidFill>
                <a:latin typeface="Aptos" charset="0"/>
                <a:cs typeface="Aptos" charset="0"/>
              </a:rPr>
              <a:t>ATTESTFLOW · CC3 MVP</a:t>
            </a:r>
            <a:endParaRPr lang="en-US" altLang="en-US" sz="1070" b="1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11493500" y="6578600"/>
            <a:ext cx="1524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r"/>
            <a:r>
              <a:rPr lang="en-US" altLang="en-US" sz="835">
                <a:solidFill>
                  <a:srgbClr val="7894AF"/>
                </a:solidFill>
                <a:latin typeface="Aptos" charset="0"/>
                <a:cs typeface="Aptos" charset="0"/>
              </a:rPr>
              <a:t>1</a:t>
            </a:r>
            <a:endParaRPr lang="en-US" altLang="en-US" sz="835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22300" y="355600"/>
            <a:ext cx="4318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45" b="1" spc="150">
                <a:solidFill>
                  <a:srgbClr val="24D5FF"/>
                </a:solidFill>
                <a:latin typeface="Aptos" charset="0"/>
                <a:cs typeface="Aptos" charset="0"/>
              </a:rPr>
              <a:t>01  /  </a:t>
            </a:r>
            <a:r>
              <a:rPr lang="zh-CN" altLang="en-US" sz="945" b="1" spc="150">
                <a:solidFill>
                  <a:srgbClr val="24D5FF"/>
                </a:solidFill>
                <a:latin typeface="Aptos" charset="0"/>
                <a:cs typeface="Aptos" charset="0"/>
              </a:rPr>
              <a:t>供应链金融模式</a:t>
            </a:r>
            <a:endParaRPr lang="zh-CN" altLang="en-US" sz="945" b="1" spc="150">
              <a:solidFill>
                <a:srgbClr val="24D5FF"/>
              </a:solidFill>
              <a:latin typeface="Aptos" charset="0"/>
              <a:cs typeface="Aptos" charset="0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609600" y="660400"/>
            <a:ext cx="10972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Autofit/>
          </a:bodyPr>
          <a:p>
            <a:pPr algn="l"/>
            <a:r>
              <a:rPr lang="zh-CN" altLang="en-US" sz="230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从真实贸易到到期兑付：一笔应收账款的融资闭环</a:t>
            </a:r>
            <a:endParaRPr lang="zh-CN" altLang="en-US" sz="230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622300" y="1282700"/>
            <a:ext cx="1079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1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</a:rPr>
              <a:t>买方先确权，供应商凭买方信用获得无追索融资；到期由预签授权驱动稳定币结算。</a:t>
            </a:r>
            <a:endParaRPr lang="zh-CN" altLang="en-US" sz="1165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1" name="直接连接符 50"/>
          <p:cNvCxnSpPr/>
          <p:nvPr/>
        </p:nvCxnSpPr>
        <p:spPr>
          <a:xfrm>
            <a:off x="711200" y="1676400"/>
            <a:ext cx="10756900" cy="635"/>
          </a:xfrm>
          <a:prstGeom prst="line">
            <a:avLst/>
          </a:prstGeom>
          <a:ln w="19050">
            <a:solidFill>
              <a:srgbClr val="3B82F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直接连接符 51"/>
          <p:cNvCxnSpPr/>
          <p:nvPr/>
        </p:nvCxnSpPr>
        <p:spPr>
          <a:xfrm>
            <a:off x="2082800" y="3035300"/>
            <a:ext cx="368300" cy="635"/>
          </a:xfrm>
          <a:prstGeom prst="line">
            <a:avLst/>
          </a:prstGeom>
          <a:ln w="13970">
            <a:solidFill>
              <a:srgbClr val="24466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3" name="直接连接符 52"/>
          <p:cNvCxnSpPr/>
          <p:nvPr/>
        </p:nvCxnSpPr>
        <p:spPr>
          <a:xfrm>
            <a:off x="4013200" y="3035300"/>
            <a:ext cx="368300" cy="635"/>
          </a:xfrm>
          <a:prstGeom prst="line">
            <a:avLst/>
          </a:prstGeom>
          <a:ln w="13970">
            <a:solidFill>
              <a:srgbClr val="24466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5943600" y="3035300"/>
            <a:ext cx="368300" cy="635"/>
          </a:xfrm>
          <a:prstGeom prst="line">
            <a:avLst/>
          </a:prstGeom>
          <a:ln w="13970">
            <a:solidFill>
              <a:srgbClr val="24466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7874000" y="3035300"/>
            <a:ext cx="368300" cy="635"/>
          </a:xfrm>
          <a:prstGeom prst="line">
            <a:avLst/>
          </a:prstGeom>
          <a:ln w="13970">
            <a:solidFill>
              <a:srgbClr val="24466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9804400" y="3035300"/>
            <a:ext cx="368300" cy="635"/>
          </a:xfrm>
          <a:prstGeom prst="line">
            <a:avLst/>
          </a:prstGeom>
          <a:ln w="13970">
            <a:solidFill>
              <a:srgbClr val="24466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7" name="圆角矩形 56"/>
          <p:cNvSpPr/>
          <p:nvPr/>
        </p:nvSpPr>
        <p:spPr>
          <a:xfrm>
            <a:off x="609600" y="1841500"/>
            <a:ext cx="1422400" cy="23876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24D5FF">
                <a:alpha val="5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1143000" y="1676400"/>
            <a:ext cx="355600" cy="355600"/>
          </a:xfrm>
          <a:prstGeom prst="ellipse">
            <a:avLst/>
          </a:prstGeom>
          <a:solidFill>
            <a:srgbClr val="24D5FF"/>
          </a:solidFill>
          <a:ln w="2540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文本框 58"/>
          <p:cNvSpPr txBox="1"/>
          <p:nvPr/>
        </p:nvSpPr>
        <p:spPr>
          <a:xfrm>
            <a:off x="1143000" y="1778000"/>
            <a:ext cx="355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01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812800" y="2260600"/>
            <a:ext cx="10160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24D5FF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文本框 60"/>
          <p:cNvSpPr txBox="1"/>
          <p:nvPr/>
        </p:nvSpPr>
        <p:spPr>
          <a:xfrm>
            <a:off x="876300" y="23241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820" b="1">
                <a:solidFill>
                  <a:srgbClr val="24D5FF"/>
                </a:solidFill>
                <a:latin typeface="Aptos" charset="0"/>
                <a:ea typeface="Aptos" charset="0"/>
              </a:rPr>
              <a:t>供应商</a:t>
            </a:r>
            <a:endParaRPr lang="zh-CN" altLang="en-US" sz="820" b="1">
              <a:solidFill>
                <a:srgbClr val="24D5FF"/>
              </a:solidFill>
              <a:latin typeface="Aptos" charset="0"/>
              <a:ea typeface="Aptos" charset="0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723900" y="2755900"/>
            <a:ext cx="1193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130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提交贸易资料</a:t>
            </a:r>
            <a:endParaRPr lang="zh-CN" altLang="en-US" sz="130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63" name="直接连接符 62"/>
          <p:cNvCxnSpPr/>
          <p:nvPr/>
        </p:nvCxnSpPr>
        <p:spPr>
          <a:xfrm>
            <a:off x="914400" y="3187700"/>
            <a:ext cx="812800" cy="635"/>
          </a:xfrm>
          <a:prstGeom prst="line">
            <a:avLst/>
          </a:prstGeom>
          <a:ln w="10160">
            <a:solidFill>
              <a:srgbClr val="24D5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4" name="文本框 63"/>
          <p:cNvSpPr txBox="1"/>
          <p:nvPr/>
        </p:nvSpPr>
        <p:spPr>
          <a:xfrm>
            <a:off x="711200" y="3352800"/>
            <a:ext cx="1219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40000"/>
          </a:bodyPr>
          <a:p>
            <a:pPr algn="ctr"/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合同</a:t>
            </a:r>
            <a:r>
              <a:rPr lang="en-US" altLang="zh-CN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PO / </a:t>
            </a:r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发票</a:t>
            </a:r>
            <a:r>
              <a:rPr lang="en-US" altLang="zh-CN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
</a:t>
            </a:r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验收记录</a:t>
            </a:r>
            <a:endParaRPr lang="zh-CN" altLang="en-US" sz="205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圆角矩形 64"/>
          <p:cNvSpPr/>
          <p:nvPr/>
        </p:nvSpPr>
        <p:spPr>
          <a:xfrm>
            <a:off x="2540000" y="1841500"/>
            <a:ext cx="1422400" cy="23876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FFCB66">
                <a:alpha val="5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3073400" y="1676400"/>
            <a:ext cx="355600" cy="355600"/>
          </a:xfrm>
          <a:prstGeom prst="ellipse">
            <a:avLst/>
          </a:prstGeom>
          <a:solidFill>
            <a:srgbClr val="FFCB66"/>
          </a:solidFill>
          <a:ln w="2540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7" name="文本框 66"/>
          <p:cNvSpPr txBox="1"/>
          <p:nvPr/>
        </p:nvSpPr>
        <p:spPr>
          <a:xfrm>
            <a:off x="3073400" y="1778000"/>
            <a:ext cx="355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02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68" name="圆角矩形 67"/>
          <p:cNvSpPr/>
          <p:nvPr/>
        </p:nvSpPr>
        <p:spPr>
          <a:xfrm>
            <a:off x="2743200" y="2260600"/>
            <a:ext cx="10160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FFCB66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/>
        </p:nvSpPr>
        <p:spPr>
          <a:xfrm>
            <a:off x="2806700" y="23241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910" b="1">
                <a:solidFill>
                  <a:srgbClr val="FFCB66"/>
                </a:solidFill>
                <a:latin typeface="Aptos" charset="0"/>
                <a:ea typeface="Aptos" charset="0"/>
              </a:rPr>
              <a:t>核心买方</a:t>
            </a:r>
            <a:endParaRPr lang="zh-CN" altLang="en-US" sz="910" b="1">
              <a:solidFill>
                <a:srgbClr val="FFCB66"/>
              </a:solidFill>
              <a:latin typeface="Aptos" charset="0"/>
              <a:ea typeface="Aptos" charset="0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2654300" y="2755900"/>
            <a:ext cx="1193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115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确权</a:t>
            </a:r>
            <a:r>
              <a:rPr lang="en-US" altLang="zh-CN" sz="115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115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双签</a:t>
            </a:r>
            <a:endParaRPr lang="zh-CN" altLang="en-US" sz="115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1" name="直接连接符 70"/>
          <p:cNvCxnSpPr/>
          <p:nvPr/>
        </p:nvCxnSpPr>
        <p:spPr>
          <a:xfrm>
            <a:off x="2844800" y="3187700"/>
            <a:ext cx="812800" cy="635"/>
          </a:xfrm>
          <a:prstGeom prst="line">
            <a:avLst/>
          </a:prstGeom>
          <a:ln w="10160">
            <a:solidFill>
              <a:srgbClr val="FFCB6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2" name="文本框 71"/>
          <p:cNvSpPr txBox="1"/>
          <p:nvPr/>
        </p:nvSpPr>
        <p:spPr>
          <a:xfrm>
            <a:off x="2641600" y="3352800"/>
            <a:ext cx="1219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Autofit/>
          </a:bodyPr>
          <a:p>
            <a:pPr algn="ctr"/>
            <a:r>
              <a:rPr lang="en-US" altLang="en-US" sz="8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Approved Payable
+ EIP-3009 </a:t>
            </a:r>
            <a:r>
              <a:rPr lang="zh-CN" altLang="en-US" sz="8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授权</a:t>
            </a:r>
            <a:r>
              <a:rPr lang="en-US" altLang="zh-CN" sz="8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
</a:t>
            </a:r>
            <a:r>
              <a:rPr lang="zh-CN" altLang="en-US" sz="8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确权时不锁款</a:t>
            </a:r>
            <a:endParaRPr lang="zh-CN" altLang="en-US" sz="80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圆角矩形 72"/>
          <p:cNvSpPr/>
          <p:nvPr/>
        </p:nvSpPr>
        <p:spPr>
          <a:xfrm>
            <a:off x="4470400" y="1841500"/>
            <a:ext cx="1422400" cy="23876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3B82F6">
                <a:alpha val="5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4" name="椭圆 73"/>
          <p:cNvSpPr/>
          <p:nvPr/>
        </p:nvSpPr>
        <p:spPr>
          <a:xfrm>
            <a:off x="5003800" y="1676400"/>
            <a:ext cx="355600" cy="355600"/>
          </a:xfrm>
          <a:prstGeom prst="ellipse">
            <a:avLst/>
          </a:prstGeom>
          <a:solidFill>
            <a:srgbClr val="3B82F6"/>
          </a:solidFill>
          <a:ln w="2540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5" name="文本框 74"/>
          <p:cNvSpPr txBox="1"/>
          <p:nvPr/>
        </p:nvSpPr>
        <p:spPr>
          <a:xfrm>
            <a:off x="5003800" y="1778000"/>
            <a:ext cx="355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03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76" name="圆角矩形 75"/>
          <p:cNvSpPr/>
          <p:nvPr/>
        </p:nvSpPr>
        <p:spPr>
          <a:xfrm>
            <a:off x="4673600" y="2260600"/>
            <a:ext cx="10160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3B82F6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7" name="文本框 76"/>
          <p:cNvSpPr txBox="1"/>
          <p:nvPr/>
        </p:nvSpPr>
        <p:spPr>
          <a:xfrm>
            <a:off x="4737100" y="23241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820" b="1">
                <a:solidFill>
                  <a:srgbClr val="3B82F6"/>
                </a:solidFill>
                <a:latin typeface="Aptos" charset="0"/>
                <a:ea typeface="Aptos" charset="0"/>
              </a:rPr>
              <a:t>平台</a:t>
            </a:r>
            <a:endParaRPr lang="zh-CN" altLang="en-US" sz="820" b="1">
              <a:solidFill>
                <a:srgbClr val="3B82F6"/>
              </a:solidFill>
              <a:latin typeface="Aptos" charset="0"/>
              <a:ea typeface="Aptos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4584700" y="2755900"/>
            <a:ext cx="1193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130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生成数字凭证</a:t>
            </a:r>
            <a:endParaRPr lang="zh-CN" altLang="en-US" sz="130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9" name="直接连接符 78"/>
          <p:cNvCxnSpPr/>
          <p:nvPr/>
        </p:nvCxnSpPr>
        <p:spPr>
          <a:xfrm>
            <a:off x="4775200" y="3187700"/>
            <a:ext cx="812800" cy="635"/>
          </a:xfrm>
          <a:prstGeom prst="line">
            <a:avLst/>
          </a:prstGeom>
          <a:ln w="1016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0" name="文本框 79"/>
          <p:cNvSpPr txBox="1"/>
          <p:nvPr/>
        </p:nvSpPr>
        <p:spPr>
          <a:xfrm>
            <a:off x="4572000" y="3352800"/>
            <a:ext cx="1219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40000"/>
          </a:bodyPr>
          <a:p>
            <a:pPr algn="ctr"/>
            <a:r>
              <a:rPr lang="en-US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Digital Receivable
ACTIVE · </a:t>
            </a:r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可融资</a:t>
            </a:r>
            <a:endParaRPr lang="zh-CN" altLang="en-US" sz="205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1" name="圆角矩形 80"/>
          <p:cNvSpPr/>
          <p:nvPr/>
        </p:nvSpPr>
        <p:spPr>
          <a:xfrm>
            <a:off x="6400800" y="1841500"/>
            <a:ext cx="1422400" cy="23876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45F0C5">
                <a:alpha val="5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2" name="椭圆 81"/>
          <p:cNvSpPr/>
          <p:nvPr/>
        </p:nvSpPr>
        <p:spPr>
          <a:xfrm>
            <a:off x="6934200" y="1676400"/>
            <a:ext cx="355600" cy="355600"/>
          </a:xfrm>
          <a:prstGeom prst="ellipse">
            <a:avLst/>
          </a:prstGeom>
          <a:solidFill>
            <a:srgbClr val="45F0C5"/>
          </a:solidFill>
          <a:ln w="2540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3" name="文本框 82"/>
          <p:cNvSpPr txBox="1"/>
          <p:nvPr/>
        </p:nvSpPr>
        <p:spPr>
          <a:xfrm>
            <a:off x="6934200" y="1778000"/>
            <a:ext cx="355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04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84" name="圆角矩形 83"/>
          <p:cNvSpPr/>
          <p:nvPr/>
        </p:nvSpPr>
        <p:spPr>
          <a:xfrm>
            <a:off x="6604000" y="2260600"/>
            <a:ext cx="10160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45F0C5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6667500" y="23241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820" b="1">
                <a:solidFill>
                  <a:srgbClr val="45F0C5"/>
                </a:solidFill>
                <a:latin typeface="Aptos" charset="0"/>
                <a:ea typeface="Aptos" charset="0"/>
              </a:rPr>
              <a:t>资金方</a:t>
            </a:r>
            <a:endParaRPr lang="zh-CN" altLang="en-US" sz="820" b="1">
              <a:solidFill>
                <a:srgbClr val="45F0C5"/>
              </a:solidFill>
              <a:latin typeface="Aptos" charset="0"/>
              <a:ea typeface="Aptos" charset="0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6515100" y="2755900"/>
            <a:ext cx="1193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130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提交融资报价</a:t>
            </a:r>
            <a:endParaRPr lang="zh-CN" altLang="en-US" sz="130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7" name="直接连接符 86"/>
          <p:cNvCxnSpPr/>
          <p:nvPr/>
        </p:nvCxnSpPr>
        <p:spPr>
          <a:xfrm>
            <a:off x="6705600" y="3187700"/>
            <a:ext cx="812800" cy="635"/>
          </a:xfrm>
          <a:prstGeom prst="line">
            <a:avLst/>
          </a:prstGeom>
          <a:ln w="10160">
            <a:solidFill>
              <a:srgbClr val="45F0C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502400" y="3352800"/>
            <a:ext cx="1219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40000"/>
          </a:bodyPr>
          <a:p>
            <a:pPr algn="ctr"/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按买方授信</a:t>
            </a:r>
            <a:r>
              <a:rPr lang="en-US" altLang="zh-CN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
</a:t>
            </a:r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无追索报价</a:t>
            </a:r>
            <a:endParaRPr lang="zh-CN" altLang="en-US" sz="205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圆角矩形 88"/>
          <p:cNvSpPr/>
          <p:nvPr/>
        </p:nvSpPr>
        <p:spPr>
          <a:xfrm>
            <a:off x="8331200" y="1841500"/>
            <a:ext cx="1422400" cy="23876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24D5FF">
                <a:alpha val="5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0" name="椭圆 89"/>
          <p:cNvSpPr/>
          <p:nvPr/>
        </p:nvSpPr>
        <p:spPr>
          <a:xfrm>
            <a:off x="8864600" y="1676400"/>
            <a:ext cx="355600" cy="355600"/>
          </a:xfrm>
          <a:prstGeom prst="ellipse">
            <a:avLst/>
          </a:prstGeom>
          <a:solidFill>
            <a:srgbClr val="24D5FF"/>
          </a:solidFill>
          <a:ln w="2540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1" name="文本框 90"/>
          <p:cNvSpPr txBox="1"/>
          <p:nvPr/>
        </p:nvSpPr>
        <p:spPr>
          <a:xfrm>
            <a:off x="8864600" y="1778000"/>
            <a:ext cx="355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05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92" name="圆角矩形 91"/>
          <p:cNvSpPr/>
          <p:nvPr/>
        </p:nvSpPr>
        <p:spPr>
          <a:xfrm>
            <a:off x="8534400" y="2260600"/>
            <a:ext cx="10160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24D5FF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8597900" y="23241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820" b="1">
                <a:solidFill>
                  <a:srgbClr val="24D5FF"/>
                </a:solidFill>
                <a:latin typeface="Aptos" charset="0"/>
                <a:ea typeface="Aptos" charset="0"/>
              </a:rPr>
              <a:t>供应商</a:t>
            </a:r>
            <a:endParaRPr lang="zh-CN" altLang="en-US" sz="820" b="1">
              <a:solidFill>
                <a:srgbClr val="24D5FF"/>
              </a:solidFill>
              <a:latin typeface="Aptos" charset="0"/>
              <a:ea typeface="Aptos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8445500" y="2755900"/>
            <a:ext cx="1193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115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接受并放款</a:t>
            </a:r>
            <a:endParaRPr lang="zh-CN" altLang="en-US" sz="115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95" name="直接连接符 94"/>
          <p:cNvCxnSpPr/>
          <p:nvPr/>
        </p:nvCxnSpPr>
        <p:spPr>
          <a:xfrm>
            <a:off x="8636000" y="3187700"/>
            <a:ext cx="812800" cy="635"/>
          </a:xfrm>
          <a:prstGeom prst="line">
            <a:avLst/>
          </a:prstGeom>
          <a:ln w="10160">
            <a:solidFill>
              <a:srgbClr val="24D5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6" name="文本框 95"/>
          <p:cNvSpPr txBox="1"/>
          <p:nvPr/>
        </p:nvSpPr>
        <p:spPr>
          <a:xfrm>
            <a:off x="8432800" y="3352800"/>
            <a:ext cx="1219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40000"/>
          </a:bodyPr>
          <a:p>
            <a:pPr algn="ctr"/>
            <a:r>
              <a:rPr lang="en-US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acceptOffer()
</a:t>
            </a:r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原子放款</a:t>
            </a:r>
            <a:r>
              <a:rPr lang="en-US" altLang="zh-CN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权属更新</a:t>
            </a:r>
            <a:endParaRPr lang="zh-CN" altLang="en-US" sz="205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圆角矩形 96"/>
          <p:cNvSpPr/>
          <p:nvPr/>
        </p:nvSpPr>
        <p:spPr>
          <a:xfrm>
            <a:off x="10261600" y="1841500"/>
            <a:ext cx="1422400" cy="23876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3B82F6">
                <a:alpha val="5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8" name="椭圆 97"/>
          <p:cNvSpPr/>
          <p:nvPr/>
        </p:nvSpPr>
        <p:spPr>
          <a:xfrm>
            <a:off x="10795000" y="1676400"/>
            <a:ext cx="355600" cy="355600"/>
          </a:xfrm>
          <a:prstGeom prst="ellipse">
            <a:avLst/>
          </a:prstGeom>
          <a:solidFill>
            <a:srgbClr val="3B82F6"/>
          </a:solidFill>
          <a:ln w="2540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9" name="文本框 98"/>
          <p:cNvSpPr txBox="1"/>
          <p:nvPr/>
        </p:nvSpPr>
        <p:spPr>
          <a:xfrm>
            <a:off x="10795000" y="1778000"/>
            <a:ext cx="355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06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100" name="圆角矩形 99"/>
          <p:cNvSpPr/>
          <p:nvPr/>
        </p:nvSpPr>
        <p:spPr>
          <a:xfrm>
            <a:off x="10464800" y="2260600"/>
            <a:ext cx="10160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3B82F6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1" name="文本框 100"/>
          <p:cNvSpPr txBox="1"/>
          <p:nvPr/>
        </p:nvSpPr>
        <p:spPr>
          <a:xfrm>
            <a:off x="10528300" y="23241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910" b="1">
                <a:solidFill>
                  <a:srgbClr val="3B82F6"/>
                </a:solidFill>
                <a:latin typeface="Aptos" charset="0"/>
                <a:ea typeface="Aptos" charset="0"/>
              </a:rPr>
              <a:t>结算合约</a:t>
            </a:r>
            <a:endParaRPr lang="zh-CN" altLang="en-US" sz="910" b="1">
              <a:solidFill>
                <a:srgbClr val="3B82F6"/>
              </a:solidFill>
              <a:latin typeface="Aptos" charset="0"/>
              <a:ea typeface="Aptos" charset="0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10375900" y="2755900"/>
            <a:ext cx="1193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115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到期分账</a:t>
            </a:r>
            <a:endParaRPr lang="zh-CN" altLang="en-US" sz="115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03" name="直接连接符 102"/>
          <p:cNvCxnSpPr/>
          <p:nvPr/>
        </p:nvCxnSpPr>
        <p:spPr>
          <a:xfrm>
            <a:off x="10566400" y="3187700"/>
            <a:ext cx="812800" cy="635"/>
          </a:xfrm>
          <a:prstGeom prst="line">
            <a:avLst/>
          </a:prstGeom>
          <a:ln w="1016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" name="文本框 103"/>
          <p:cNvSpPr txBox="1"/>
          <p:nvPr/>
        </p:nvSpPr>
        <p:spPr>
          <a:xfrm>
            <a:off x="10363200" y="3352800"/>
            <a:ext cx="1219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40000"/>
          </a:bodyPr>
          <a:p>
            <a:pPr algn="ctr"/>
            <a:r>
              <a:rPr lang="zh-CN" altLang="en-US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受限</a:t>
            </a:r>
            <a:r>
              <a:rPr lang="en-US" altLang="zh-CN" sz="205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Relayer
→ claim()</a:t>
            </a:r>
            <a:endParaRPr lang="en-US" altLang="zh-CN" sz="205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5" name="圆角矩形 104"/>
          <p:cNvSpPr/>
          <p:nvPr/>
        </p:nvSpPr>
        <p:spPr>
          <a:xfrm>
            <a:off x="609600" y="4445000"/>
            <a:ext cx="10972800" cy="14732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3B82F6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6" name="矩形 105"/>
          <p:cNvSpPr/>
          <p:nvPr/>
        </p:nvSpPr>
        <p:spPr>
          <a:xfrm>
            <a:off x="609600" y="4445000"/>
            <a:ext cx="76200" cy="1473200"/>
          </a:xfrm>
          <a:prstGeom prst="rect">
            <a:avLst/>
          </a:prstGeom>
          <a:solidFill>
            <a:srgbClr val="24D5FF"/>
          </a:solidFill>
          <a:ln w="12700">
            <a:solidFill>
              <a:srgbClr val="24D5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7" name="文本框 106"/>
          <p:cNvSpPr txBox="1"/>
          <p:nvPr/>
        </p:nvSpPr>
        <p:spPr>
          <a:xfrm>
            <a:off x="889000" y="4635500"/>
            <a:ext cx="190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50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模式核心</a:t>
            </a:r>
            <a:endParaRPr lang="zh-CN" altLang="en-US" sz="150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文本框 107"/>
          <p:cNvSpPr txBox="1"/>
          <p:nvPr/>
        </p:nvSpPr>
        <p:spPr>
          <a:xfrm>
            <a:off x="889000" y="5067300"/>
            <a:ext cx="8255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910" b="1">
                <a:solidFill>
                  <a:srgbClr val="FFCB66"/>
                </a:solidFill>
                <a:latin typeface="微软雅黑" panose="020B0503020204020204" charset="-122"/>
                <a:ea typeface="微软雅黑" panose="020B0503020204020204" charset="-122"/>
              </a:rPr>
              <a:t>买方资金</a:t>
            </a:r>
            <a:endParaRPr lang="zh-CN" altLang="en-US" sz="910" b="1">
              <a:solidFill>
                <a:srgbClr val="FFCB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" name="文本框 108"/>
          <p:cNvSpPr txBox="1"/>
          <p:nvPr/>
        </p:nvSpPr>
        <p:spPr>
          <a:xfrm>
            <a:off x="1778000" y="5041900"/>
            <a:ext cx="36195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确权时不锁款</a:t>
            </a:r>
            <a:r>
              <a:rPr lang="en-US" altLang="zh-CN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到期前检查余额与授权</a:t>
            </a:r>
            <a:endParaRPr lang="zh-CN" altLang="en-US" sz="945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889000" y="5410200"/>
            <a:ext cx="9525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025" b="1">
                <a:solidFill>
                  <a:srgbClr val="45F0C5"/>
                </a:solidFill>
                <a:latin typeface="微软雅黑" panose="020B0503020204020204" charset="-122"/>
                <a:ea typeface="微软雅黑" panose="020B0503020204020204" charset="-122"/>
              </a:rPr>
              <a:t>资金方本金</a:t>
            </a:r>
            <a:endParaRPr lang="zh-CN" altLang="en-US" sz="1025" b="1">
              <a:solidFill>
                <a:srgbClr val="45F0C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778000" y="5384800"/>
            <a:ext cx="36195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报价后托管在合约</a:t>
            </a:r>
            <a:r>
              <a:rPr lang="en-US" altLang="zh-CN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接受后原子放款</a:t>
            </a:r>
            <a:endParaRPr lang="zh-CN" altLang="en-US" sz="945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12" name="直接连接符 111"/>
          <p:cNvCxnSpPr/>
          <p:nvPr/>
        </p:nvCxnSpPr>
        <p:spPr>
          <a:xfrm>
            <a:off x="5740400" y="4635500"/>
            <a:ext cx="635" cy="1092200"/>
          </a:xfrm>
          <a:prstGeom prst="line">
            <a:avLst/>
          </a:prstGeom>
          <a:ln w="10160">
            <a:solidFill>
              <a:srgbClr val="24466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3" name="文本框 112"/>
          <p:cNvSpPr txBox="1"/>
          <p:nvPr/>
        </p:nvSpPr>
        <p:spPr>
          <a:xfrm>
            <a:off x="6070600" y="4635500"/>
            <a:ext cx="215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50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到期结算条件</a:t>
            </a:r>
            <a:endParaRPr lang="zh-CN" altLang="en-US" sz="150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圆角矩形 113"/>
          <p:cNvSpPr/>
          <p:nvPr/>
        </p:nvSpPr>
        <p:spPr>
          <a:xfrm>
            <a:off x="6070600" y="5041900"/>
            <a:ext cx="10922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FFCB66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5" name="文本框 114"/>
          <p:cNvSpPr txBox="1"/>
          <p:nvPr/>
        </p:nvSpPr>
        <p:spPr>
          <a:xfrm>
            <a:off x="6134100" y="5105400"/>
            <a:ext cx="965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820" b="1">
                <a:solidFill>
                  <a:srgbClr val="FFCB66"/>
                </a:solidFill>
                <a:latin typeface="Aptos" charset="0"/>
                <a:ea typeface="Aptos" charset="0"/>
              </a:rPr>
              <a:t>授权有效</a:t>
            </a:r>
            <a:endParaRPr lang="zh-CN" altLang="en-US" sz="820" b="1">
              <a:solidFill>
                <a:srgbClr val="FFCB66"/>
              </a:solidFill>
              <a:latin typeface="Aptos" charset="0"/>
              <a:ea typeface="Aptos" charset="0"/>
            </a:endParaRPr>
          </a:p>
        </p:txBody>
      </p:sp>
      <p:sp>
        <p:nvSpPr>
          <p:cNvPr id="116" name="圆角矩形 115"/>
          <p:cNvSpPr/>
          <p:nvPr/>
        </p:nvSpPr>
        <p:spPr>
          <a:xfrm>
            <a:off x="7264400" y="5041900"/>
            <a:ext cx="10922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45F0C5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7" name="文本框 116"/>
          <p:cNvSpPr txBox="1"/>
          <p:nvPr/>
        </p:nvSpPr>
        <p:spPr>
          <a:xfrm>
            <a:off x="7327900" y="5105400"/>
            <a:ext cx="965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820" b="1">
                <a:solidFill>
                  <a:srgbClr val="45F0C5"/>
                </a:solidFill>
                <a:latin typeface="Aptos" charset="0"/>
                <a:ea typeface="Aptos" charset="0"/>
              </a:rPr>
              <a:t>余额充足</a:t>
            </a:r>
            <a:endParaRPr lang="zh-CN" altLang="en-US" sz="820" b="1">
              <a:solidFill>
                <a:srgbClr val="45F0C5"/>
              </a:solidFill>
              <a:latin typeface="Aptos" charset="0"/>
              <a:ea typeface="Aptos" charset="0"/>
            </a:endParaRPr>
          </a:p>
        </p:txBody>
      </p:sp>
      <p:sp>
        <p:nvSpPr>
          <p:cNvPr id="118" name="圆角矩形 117"/>
          <p:cNvSpPr/>
          <p:nvPr/>
        </p:nvSpPr>
        <p:spPr>
          <a:xfrm>
            <a:off x="8458200" y="5041900"/>
            <a:ext cx="12192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24D5FF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9" name="文本框 118"/>
          <p:cNvSpPr txBox="1"/>
          <p:nvPr/>
        </p:nvSpPr>
        <p:spPr>
          <a:xfrm>
            <a:off x="8521700" y="5105400"/>
            <a:ext cx="10922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910" b="1">
                <a:solidFill>
                  <a:srgbClr val="24D5FF"/>
                </a:solidFill>
                <a:latin typeface="Aptos" charset="0"/>
                <a:ea typeface="Aptos" charset="0"/>
              </a:rPr>
              <a:t>当前权利人</a:t>
            </a:r>
            <a:endParaRPr lang="zh-CN" altLang="en-US" sz="910" b="1">
              <a:solidFill>
                <a:srgbClr val="24D5FF"/>
              </a:solidFill>
              <a:latin typeface="Aptos" charset="0"/>
              <a:ea typeface="Aptos" charset="0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6070600" y="5435600"/>
            <a:ext cx="495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</a:t>
            </a:r>
            <a:r>
              <a:rPr lang="zh-CN" altLang="en-US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结算合约收款</a:t>
            </a:r>
            <a:r>
              <a:rPr lang="en-US" altLang="zh-CN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94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按最新权属分账</a:t>
            </a:r>
            <a:endParaRPr lang="zh-CN" altLang="en-US" sz="945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1" name="文本框 120"/>
          <p:cNvSpPr txBox="1"/>
          <p:nvPr/>
        </p:nvSpPr>
        <p:spPr>
          <a:xfrm>
            <a:off x="6070600" y="5689600"/>
            <a:ext cx="495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945" b="1">
                <a:solidFill>
                  <a:srgbClr val="FFCB66"/>
                </a:solidFill>
                <a:latin typeface="微软雅黑" panose="020B0503020204020204" charset="-122"/>
                <a:ea typeface="微软雅黑" panose="020B0503020204020204" charset="-122"/>
              </a:rPr>
              <a:t>无追索：普通买方信用风险由资金方承担</a:t>
            </a:r>
            <a:endParaRPr lang="zh-CN" altLang="en-US" sz="945" b="1">
              <a:solidFill>
                <a:srgbClr val="FFCB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609600" y="6108700"/>
            <a:ext cx="10972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980" b="1">
                <a:solidFill>
                  <a:srgbClr val="24D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</a:t>
            </a:r>
            <a:r>
              <a:rPr lang="en-US" altLang="zh-CN" sz="980" b="1">
                <a:solidFill>
                  <a:srgbClr val="24D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 · </a:t>
            </a:r>
            <a:r>
              <a:rPr lang="zh-CN" altLang="en-US" sz="980" b="1">
                <a:solidFill>
                  <a:srgbClr val="24D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许可式</a:t>
            </a:r>
            <a:r>
              <a:rPr lang="en-US" altLang="zh-CN" sz="980" b="1">
                <a:solidFill>
                  <a:srgbClr val="24D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MVP · </a:t>
            </a:r>
            <a:r>
              <a:rPr lang="zh-CN" altLang="en-US" sz="980" b="1">
                <a:solidFill>
                  <a:srgbClr val="24D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数字凭证不等同于法定票据或还款保证</a:t>
            </a:r>
            <a:endParaRPr lang="zh-CN" altLang="en-US" sz="980" b="1">
              <a:solidFill>
                <a:srgbClr val="24D5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12700"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71426"/>
                </a:solid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4D5FF"/>
          </a:solidFill>
          <a:ln w="12700">
            <a:solidFill>
              <a:srgbClr val="24D5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4" name="直接连接符 3"/>
          <p:cNvCxnSpPr/>
          <p:nvPr/>
        </p:nvCxnSpPr>
        <p:spPr>
          <a:xfrm>
            <a:off x="609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1066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1524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1981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438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>
            <a:off x="2895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3352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3810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4267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4724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181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5638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6096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553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7010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7467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7924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8382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8839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9296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97536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102108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106680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111252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11582400" y="381000"/>
            <a:ext cx="635" cy="5969000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381000" y="4318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381000" y="8890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>
            <a:off x="381000" y="13462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81000" y="18034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381000" y="22606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381000" y="27178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81000" y="31750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381000" y="36322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381000" y="40894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>
            <a:off x="381000" y="45466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381000" y="50038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381000" y="54610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直接连接符 40"/>
          <p:cNvCxnSpPr/>
          <p:nvPr/>
        </p:nvCxnSpPr>
        <p:spPr>
          <a:xfrm>
            <a:off x="381000" y="59182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直接连接符 41"/>
          <p:cNvCxnSpPr/>
          <p:nvPr/>
        </p:nvCxnSpPr>
        <p:spPr>
          <a:xfrm>
            <a:off x="381000" y="6375400"/>
            <a:ext cx="11430000" cy="635"/>
          </a:xfrm>
          <a:prstGeom prst="line">
            <a:avLst/>
          </a:prstGeom>
          <a:ln w="4445">
            <a:solidFill>
              <a:srgbClr val="0C2741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3" name="矩形 42"/>
          <p:cNvSpPr/>
          <p:nvPr/>
        </p:nvSpPr>
        <p:spPr>
          <a:xfrm>
            <a:off x="0" y="50800"/>
            <a:ext cx="12192000" cy="6413500"/>
          </a:xfrm>
          <a:prstGeom prst="rect">
            <a:avLst/>
          </a:prstGeom>
          <a:solidFill>
            <a:srgbClr val="071426">
              <a:alpha val="90000"/>
            </a:srgbClr>
          </a:solidFill>
          <a:ln w="12700"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71426"/>
                </a:solid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44" name="直接连接符 43"/>
          <p:cNvCxnSpPr/>
          <p:nvPr/>
        </p:nvCxnSpPr>
        <p:spPr>
          <a:xfrm>
            <a:off x="609600" y="6502400"/>
            <a:ext cx="10972800" cy="635"/>
          </a:xfrm>
          <a:prstGeom prst="line">
            <a:avLst/>
          </a:prstGeom>
          <a:ln w="9525">
            <a:solidFill>
              <a:srgbClr val="24466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609600" y="6578600"/>
            <a:ext cx="15875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40" b="1">
                <a:solidFill>
                  <a:srgbClr val="7894AF"/>
                </a:solidFill>
                <a:latin typeface="Aptos" charset="0"/>
                <a:cs typeface="Aptos" charset="0"/>
              </a:rPr>
              <a:t>SUPPLYCHAINX402</a:t>
            </a:r>
            <a:endParaRPr lang="en-US" altLang="en-US" sz="940" b="1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9448800" y="6578600"/>
            <a:ext cx="1879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r"/>
            <a:r>
              <a:rPr lang="en-US" altLang="en-US" sz="1070" b="1">
                <a:solidFill>
                  <a:srgbClr val="7894AF"/>
                </a:solidFill>
                <a:latin typeface="Aptos" charset="0"/>
                <a:cs typeface="Aptos" charset="0"/>
              </a:rPr>
              <a:t>ATTESTFLOW · CC3 MVP</a:t>
            </a:r>
            <a:endParaRPr lang="en-US" altLang="en-US" sz="1070" b="1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11493500" y="6578600"/>
            <a:ext cx="1524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r"/>
            <a:r>
              <a:rPr lang="en-US" altLang="en-US" sz="835">
                <a:solidFill>
                  <a:srgbClr val="7894AF"/>
                </a:solidFill>
                <a:latin typeface="Aptos" charset="0"/>
                <a:cs typeface="Aptos" charset="0"/>
              </a:rPr>
              <a:t>2</a:t>
            </a:r>
            <a:endParaRPr lang="en-US" altLang="en-US" sz="835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22300" y="355600"/>
            <a:ext cx="4318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45" b="1" spc="150">
                <a:solidFill>
                  <a:srgbClr val="24D5FF"/>
                </a:solidFill>
                <a:latin typeface="Aptos" charset="0"/>
                <a:cs typeface="Aptos" charset="0"/>
              </a:rPr>
              <a:t>02  /  </a:t>
            </a:r>
            <a:r>
              <a:rPr lang="zh-CN" altLang="en-US" sz="945" b="1" spc="150">
                <a:solidFill>
                  <a:srgbClr val="24D5FF"/>
                </a:solidFill>
                <a:latin typeface="Aptos" charset="0"/>
                <a:cs typeface="Aptos" charset="0"/>
              </a:rPr>
              <a:t>本项目亮点</a:t>
            </a:r>
            <a:endParaRPr lang="zh-CN" altLang="en-US" sz="945" b="1" spc="150">
              <a:solidFill>
                <a:srgbClr val="24D5FF"/>
              </a:solidFill>
              <a:latin typeface="Aptos" charset="0"/>
              <a:cs typeface="Aptos" charset="0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609600" y="660400"/>
            <a:ext cx="10972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Autofit/>
          </a:bodyPr>
          <a:p>
            <a:pPr algn="l"/>
            <a:r>
              <a:rPr lang="zh-CN" altLang="en-US" sz="230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把确权、融资、审计与兑付做成可验证闭环</a:t>
            </a:r>
            <a:endParaRPr lang="zh-CN" altLang="en-US" sz="230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622300" y="1282700"/>
            <a:ext cx="1079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11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Creditcoin CC3 </a:t>
            </a:r>
            <a:r>
              <a:rPr lang="zh-CN" altLang="en-US" sz="11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测试网封闭式</a:t>
            </a:r>
            <a:r>
              <a:rPr lang="en-US" altLang="zh-CN" sz="11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MVP · </a:t>
            </a:r>
            <a:r>
              <a:rPr lang="zh-CN" altLang="en-US" sz="11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链上状态驱动</a:t>
            </a:r>
            <a:r>
              <a:rPr lang="en-US" altLang="zh-CN" sz="11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1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异步证明不阻塞核心流程。</a:t>
            </a:r>
            <a:endParaRPr lang="zh-CN" altLang="en-US" sz="1165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609600" y="1816100"/>
            <a:ext cx="2768600" cy="16002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24D5FF">
                <a:alpha val="52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/>
        </p:nvSpPr>
        <p:spPr>
          <a:xfrm>
            <a:off x="787400" y="1993900"/>
            <a:ext cx="43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90000"/>
          </a:bodyPr>
          <a:p>
            <a:pPr algn="l"/>
            <a:r>
              <a:rPr lang="en-US" altLang="en-US" sz="1890" b="1">
                <a:solidFill>
                  <a:srgbClr val="24D5FF"/>
                </a:solidFill>
                <a:latin typeface="Aptos Display" charset="0"/>
                <a:cs typeface="Aptos Display" charset="0"/>
              </a:rPr>
              <a:t>01</a:t>
            </a:r>
            <a:endParaRPr lang="en-US" altLang="en-US" sz="1890" b="1">
              <a:solidFill>
                <a:srgbClr val="24D5FF"/>
              </a:solidFill>
              <a:latin typeface="Aptos Display" charset="0"/>
              <a:cs typeface="Aptos Display" charset="0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1308100" y="2044700"/>
            <a:ext cx="1879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800" b="1" spc="70">
                <a:solidFill>
                  <a:srgbClr val="7894AF"/>
                </a:solidFill>
                <a:latin typeface="Aptos" charset="0"/>
                <a:cs typeface="Aptos" charset="0"/>
              </a:rPr>
              <a:t>DATA READY</a:t>
            </a:r>
            <a:endParaRPr lang="en-US" altLang="en-US" sz="800" b="1" spc="70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787400" y="2451100"/>
            <a:ext cx="241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</a:t>
            </a:r>
            <a:r>
              <a:rPr lang="zh-CN" altLang="en-US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辅助字段提取</a:t>
            </a:r>
            <a:endParaRPr lang="zh-CN" altLang="en-US" sz="134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87400" y="2857500"/>
            <a:ext cx="241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40000"/>
          </a:bodyPr>
          <a:p>
            <a:pPr algn="l"/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合同</a:t>
            </a:r>
            <a:r>
              <a:rPr lang="en-US" altLang="zh-CN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发票</a:t>
            </a:r>
            <a:r>
              <a:rPr lang="en-US" altLang="zh-CN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买方、供应商、金额与到期日；人工复核后创建凭证。</a:t>
            </a:r>
            <a:endParaRPr lang="zh-CN" altLang="en-US" sz="2065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圆角矩形 55"/>
          <p:cNvSpPr/>
          <p:nvPr/>
        </p:nvSpPr>
        <p:spPr>
          <a:xfrm>
            <a:off x="3657600" y="1816100"/>
            <a:ext cx="2768600" cy="16002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FFCB66">
                <a:alpha val="52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文本框 56"/>
          <p:cNvSpPr txBox="1"/>
          <p:nvPr/>
        </p:nvSpPr>
        <p:spPr>
          <a:xfrm>
            <a:off x="3835400" y="1993900"/>
            <a:ext cx="43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90000"/>
          </a:bodyPr>
          <a:p>
            <a:pPr algn="l"/>
            <a:r>
              <a:rPr lang="en-US" altLang="en-US" sz="1890" b="1">
                <a:solidFill>
                  <a:srgbClr val="FFCB66"/>
                </a:solidFill>
                <a:latin typeface="Aptos Display" charset="0"/>
                <a:cs typeface="Aptos Display" charset="0"/>
              </a:rPr>
              <a:t>02</a:t>
            </a:r>
            <a:endParaRPr lang="en-US" altLang="en-US" sz="1890" b="1">
              <a:solidFill>
                <a:srgbClr val="FFCB66"/>
              </a:solidFill>
              <a:latin typeface="Aptos Display" charset="0"/>
              <a:cs typeface="Aptos Display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4356100" y="2044700"/>
            <a:ext cx="1879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00" b="1" spc="70">
                <a:solidFill>
                  <a:srgbClr val="7894AF"/>
                </a:solidFill>
                <a:latin typeface="Aptos" charset="0"/>
                <a:cs typeface="Aptos" charset="0"/>
              </a:rPr>
              <a:t>SIGNED, NOT LOCKED</a:t>
            </a:r>
            <a:endParaRPr lang="en-US" altLang="en-US" sz="900" b="1" spc="70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3835400" y="2451100"/>
            <a:ext cx="241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双签确权</a:t>
            </a:r>
            <a:r>
              <a:rPr lang="en-US" altLang="zh-CN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不锁款</a:t>
            </a:r>
            <a:endParaRPr lang="zh-CN" altLang="en-US" sz="134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3835400" y="2857500"/>
            <a:ext cx="241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40000"/>
          </a:bodyPr>
          <a:p>
            <a:pPr algn="l"/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服务端独立验签；</a:t>
            </a:r>
            <a:r>
              <a:rPr lang="en-US" altLang="zh-CN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Approved Payable </a:t>
            </a:r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与未来</a:t>
            </a:r>
            <a:r>
              <a:rPr lang="en-US" altLang="zh-CN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EIP-3009 </a:t>
            </a:r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授权哈希绑定，签名不转账。</a:t>
            </a:r>
            <a:endParaRPr lang="zh-CN" altLang="en-US" sz="2065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圆角矩形 60"/>
          <p:cNvSpPr/>
          <p:nvPr/>
        </p:nvSpPr>
        <p:spPr>
          <a:xfrm>
            <a:off x="609600" y="3606800"/>
            <a:ext cx="2768600" cy="16002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45F0C5">
                <a:alpha val="52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787400" y="3784600"/>
            <a:ext cx="43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90000"/>
          </a:bodyPr>
          <a:p>
            <a:pPr algn="l"/>
            <a:r>
              <a:rPr lang="en-US" altLang="en-US" sz="1890" b="1">
                <a:solidFill>
                  <a:srgbClr val="45F0C5"/>
                </a:solidFill>
                <a:latin typeface="Aptos Display" charset="0"/>
                <a:cs typeface="Aptos Display" charset="0"/>
              </a:rPr>
              <a:t>03</a:t>
            </a:r>
            <a:endParaRPr lang="en-US" altLang="en-US" sz="1890" b="1">
              <a:solidFill>
                <a:srgbClr val="45F0C5"/>
              </a:solidFill>
              <a:latin typeface="Aptos Display" charset="0"/>
              <a:cs typeface="Aptos Display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1308100" y="3835400"/>
            <a:ext cx="1879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1030" b="1" spc="70">
                <a:solidFill>
                  <a:srgbClr val="7894AF"/>
                </a:solidFill>
                <a:latin typeface="Aptos" charset="0"/>
                <a:cs typeface="Aptos" charset="0"/>
              </a:rPr>
              <a:t>NATIVE STATE MACHINE</a:t>
            </a:r>
            <a:endParaRPr lang="en-US" altLang="en-US" sz="1030" b="1" spc="70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787400" y="4241800"/>
            <a:ext cx="241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融资状态机上链</a:t>
            </a:r>
            <a:endParaRPr lang="zh-CN" altLang="en-US" sz="134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787400" y="4648200"/>
            <a:ext cx="241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Autofit/>
          </a:bodyPr>
          <a:p>
            <a:pPr algn="l"/>
            <a:r>
              <a:rPr lang="en-US" altLang="en-US" sz="8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requestFinancing() →
submitOffer() → acceptOffer()
</a:t>
            </a:r>
            <a:r>
              <a:rPr lang="zh-CN" altLang="en-US" sz="8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请求、报价、本金托管与接受状态可核验。</a:t>
            </a:r>
            <a:endParaRPr lang="zh-CN" altLang="en-US" sz="80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圆角矩形 65"/>
          <p:cNvSpPr/>
          <p:nvPr/>
        </p:nvSpPr>
        <p:spPr>
          <a:xfrm>
            <a:off x="3657600" y="3606800"/>
            <a:ext cx="2768600" cy="1600200"/>
          </a:xfrm>
          <a:prstGeom prst="roundRect">
            <a:avLst/>
          </a:prstGeom>
          <a:solidFill>
            <a:srgbClr val="0D2037"/>
          </a:solidFill>
          <a:ln w="12700">
            <a:solidFill>
              <a:srgbClr val="3B82F6">
                <a:alpha val="52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7" name="文本框 66"/>
          <p:cNvSpPr txBox="1"/>
          <p:nvPr/>
        </p:nvSpPr>
        <p:spPr>
          <a:xfrm>
            <a:off x="3835400" y="3784600"/>
            <a:ext cx="43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90000"/>
          </a:bodyPr>
          <a:p>
            <a:pPr algn="l"/>
            <a:r>
              <a:rPr lang="en-US" altLang="en-US" sz="1890" b="1">
                <a:solidFill>
                  <a:srgbClr val="3B82F6"/>
                </a:solidFill>
                <a:latin typeface="Aptos Display" charset="0"/>
                <a:cs typeface="Aptos Display" charset="0"/>
              </a:rPr>
              <a:t>04</a:t>
            </a:r>
            <a:endParaRPr lang="en-US" altLang="en-US" sz="1890" b="1">
              <a:solidFill>
                <a:srgbClr val="3B82F6"/>
              </a:solidFill>
              <a:latin typeface="Aptos Display" charset="0"/>
              <a:cs typeface="Aptos Display" charset="0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356100" y="3835400"/>
            <a:ext cx="1879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00" b="1" spc="70">
                <a:solidFill>
                  <a:srgbClr val="7894AF"/>
                </a:solidFill>
                <a:latin typeface="Aptos" charset="0"/>
                <a:cs typeface="Aptos" charset="0"/>
              </a:rPr>
              <a:t>REPLAY-SAFE + AUDIT</a:t>
            </a:r>
            <a:endParaRPr lang="en-US" altLang="en-US" sz="900" b="1" spc="70">
              <a:solidFill>
                <a:srgbClr val="7894AF"/>
              </a:solidFill>
              <a:latin typeface="Aptos" charset="0"/>
              <a:cs typeface="Aptos" charset="0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3835400" y="4241800"/>
            <a:ext cx="241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防重放结算</a:t>
            </a:r>
            <a:r>
              <a:rPr lang="en-US" altLang="zh-CN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134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异步证明</a:t>
            </a:r>
            <a:endParaRPr lang="zh-CN" altLang="en-US" sz="134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3835400" y="4648200"/>
            <a:ext cx="2413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40000"/>
          </a:bodyPr>
          <a:p>
            <a:pPr algn="l"/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校验窗口、</a:t>
            </a:r>
            <a:r>
              <a:rPr lang="en-US" altLang="zh-CN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nonce</a:t>
            </a:r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、收款人；</a:t>
            </a:r>
            <a:r>
              <a:rPr lang="en-US" altLang="zh-CN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ReceivableSettlement </a:t>
            </a:r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防重复结算，</a:t>
            </a:r>
            <a:r>
              <a:rPr lang="en-US" altLang="zh-CN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AuditProofRegistry </a:t>
            </a:r>
            <a:r>
              <a:rPr lang="zh-CN" altLang="en-US" sz="2065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登记证据哈希。</a:t>
            </a:r>
            <a:endParaRPr lang="zh-CN" altLang="en-US" sz="2065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圆角矩形 70"/>
          <p:cNvSpPr/>
          <p:nvPr/>
        </p:nvSpPr>
        <p:spPr>
          <a:xfrm>
            <a:off x="6756400" y="1816100"/>
            <a:ext cx="4826000" cy="3568700"/>
          </a:xfrm>
          <a:prstGeom prst="roundRect">
            <a:avLst/>
          </a:prstGeom>
          <a:solidFill>
            <a:srgbClr val="0A1D32"/>
          </a:solidFill>
          <a:ln w="12700">
            <a:solidFill>
              <a:srgbClr val="24D5FF">
                <a:alpha val="62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2" name="文本框 71"/>
          <p:cNvSpPr txBox="1"/>
          <p:nvPr/>
        </p:nvSpPr>
        <p:spPr>
          <a:xfrm>
            <a:off x="7086600" y="2032000"/>
            <a:ext cx="4064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890" b="1" spc="140">
                <a:solidFill>
                  <a:srgbClr val="24D5FF"/>
                </a:solidFill>
                <a:latin typeface="Aptos" charset="0"/>
                <a:cs typeface="Aptos" charset="0"/>
              </a:rPr>
              <a:t>VERIFIABLE PATH</a:t>
            </a:r>
            <a:endParaRPr lang="en-US" altLang="en-US" sz="890" b="1" spc="140">
              <a:solidFill>
                <a:srgbClr val="24D5FF"/>
              </a:solidFill>
              <a:latin typeface="Aptos" charset="0"/>
              <a:cs typeface="Aptos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7086600" y="2286000"/>
            <a:ext cx="3810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66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可验证链路</a:t>
            </a:r>
            <a:endParaRPr lang="zh-CN" altLang="en-US" sz="166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4" name="直接连接符 73"/>
          <p:cNvCxnSpPr/>
          <p:nvPr/>
        </p:nvCxnSpPr>
        <p:spPr>
          <a:xfrm>
            <a:off x="7353300" y="2895600"/>
            <a:ext cx="635" cy="1435100"/>
          </a:xfrm>
          <a:prstGeom prst="line">
            <a:avLst/>
          </a:prstGeom>
          <a:ln w="12700">
            <a:solidFill>
              <a:srgbClr val="24466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7353300" y="3111500"/>
            <a:ext cx="635" cy="38100"/>
          </a:xfrm>
          <a:prstGeom prst="line">
            <a:avLst/>
          </a:prstGeom>
          <a:ln w="12700">
            <a:solidFill>
              <a:srgbClr val="24466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7353300" y="3594100"/>
            <a:ext cx="635" cy="38100"/>
          </a:xfrm>
          <a:prstGeom prst="line">
            <a:avLst/>
          </a:prstGeom>
          <a:ln w="12700">
            <a:solidFill>
              <a:srgbClr val="24466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7353300" y="4076700"/>
            <a:ext cx="635" cy="38100"/>
          </a:xfrm>
          <a:prstGeom prst="line">
            <a:avLst/>
          </a:prstGeom>
          <a:ln w="12700">
            <a:solidFill>
              <a:srgbClr val="244666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8" name="椭圆 77"/>
          <p:cNvSpPr/>
          <p:nvPr/>
        </p:nvSpPr>
        <p:spPr>
          <a:xfrm>
            <a:off x="7137400" y="2628900"/>
            <a:ext cx="431800" cy="431800"/>
          </a:xfrm>
          <a:prstGeom prst="ellipse">
            <a:avLst/>
          </a:prstGeom>
          <a:solidFill>
            <a:srgbClr val="24D5FF"/>
          </a:solidFill>
          <a:ln w="1905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9" name="文本框 78"/>
          <p:cNvSpPr txBox="1"/>
          <p:nvPr/>
        </p:nvSpPr>
        <p:spPr>
          <a:xfrm>
            <a:off x="7137400" y="2755900"/>
            <a:ext cx="43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01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7747000" y="2641600"/>
            <a:ext cx="317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11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贸易资料</a:t>
            </a:r>
            <a:endParaRPr lang="zh-CN" altLang="en-US" sz="111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7747000" y="2857500"/>
            <a:ext cx="317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</a:t>
            </a:r>
            <a:r>
              <a:rPr lang="zh-CN" altLang="en-US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提取</a:t>
            </a:r>
            <a:r>
              <a:rPr lang="en-US" altLang="zh-CN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人工复核</a:t>
            </a:r>
            <a:endParaRPr lang="zh-CN" altLang="en-US" sz="90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椭圆 81"/>
          <p:cNvSpPr/>
          <p:nvPr/>
        </p:nvSpPr>
        <p:spPr>
          <a:xfrm>
            <a:off x="7137400" y="3111500"/>
            <a:ext cx="431800" cy="431800"/>
          </a:xfrm>
          <a:prstGeom prst="ellipse">
            <a:avLst/>
          </a:prstGeom>
          <a:solidFill>
            <a:srgbClr val="FFCB66"/>
          </a:solidFill>
          <a:ln w="1905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3" name="文本框 82"/>
          <p:cNvSpPr txBox="1"/>
          <p:nvPr/>
        </p:nvSpPr>
        <p:spPr>
          <a:xfrm>
            <a:off x="7137400" y="3238500"/>
            <a:ext cx="43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02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7747000" y="3124200"/>
            <a:ext cx="317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11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双签授权</a:t>
            </a:r>
            <a:endParaRPr lang="zh-CN" altLang="en-US" sz="111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7747000" y="3340100"/>
            <a:ext cx="317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独立验签</a:t>
            </a:r>
            <a:r>
              <a:rPr lang="en-US" altLang="zh-CN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哈希绑定</a:t>
            </a:r>
            <a:endParaRPr lang="zh-CN" altLang="en-US" sz="90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6" name="椭圆 85"/>
          <p:cNvSpPr/>
          <p:nvPr/>
        </p:nvSpPr>
        <p:spPr>
          <a:xfrm>
            <a:off x="7137400" y="3594100"/>
            <a:ext cx="431800" cy="431800"/>
          </a:xfrm>
          <a:prstGeom prst="ellipse">
            <a:avLst/>
          </a:prstGeom>
          <a:solidFill>
            <a:srgbClr val="45F0C5"/>
          </a:solidFill>
          <a:ln w="1905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7" name="文本框 86"/>
          <p:cNvSpPr txBox="1"/>
          <p:nvPr/>
        </p:nvSpPr>
        <p:spPr>
          <a:xfrm>
            <a:off x="7137400" y="3721100"/>
            <a:ext cx="43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03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7747000" y="3606800"/>
            <a:ext cx="317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111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CC3 </a:t>
            </a:r>
            <a:r>
              <a:rPr lang="zh-CN" altLang="en-US" sz="111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链上状态</a:t>
            </a:r>
            <a:endParaRPr lang="zh-CN" altLang="en-US" sz="111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7747000" y="3822700"/>
            <a:ext cx="317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</a:rPr>
              <a:t>ReceivableSettlement</a:t>
            </a:r>
            <a:endParaRPr lang="en-US" altLang="en-US" sz="90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椭圆 89"/>
          <p:cNvSpPr/>
          <p:nvPr/>
        </p:nvSpPr>
        <p:spPr>
          <a:xfrm>
            <a:off x="7137400" y="4076700"/>
            <a:ext cx="431800" cy="43180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7142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1" name="文本框 90"/>
          <p:cNvSpPr txBox="1"/>
          <p:nvPr/>
        </p:nvSpPr>
        <p:spPr>
          <a:xfrm>
            <a:off x="7137400" y="4203700"/>
            <a:ext cx="43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en-US" altLang="en-US" sz="835" b="1">
                <a:solidFill>
                  <a:srgbClr val="071426"/>
                </a:solidFill>
                <a:latin typeface="Aptos" charset="0"/>
                <a:cs typeface="Aptos" charset="0"/>
              </a:rPr>
              <a:t>04</a:t>
            </a:r>
            <a:endParaRPr lang="en-US" altLang="en-US" sz="835" b="1">
              <a:solidFill>
                <a:srgbClr val="071426"/>
              </a:solidFill>
              <a:latin typeface="Aptos" charset="0"/>
              <a:cs typeface="Aptos" charset="0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7747000" y="4089400"/>
            <a:ext cx="317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110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异步审计证据</a:t>
            </a:r>
            <a:endParaRPr lang="zh-CN" altLang="en-US" sz="1110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7747000" y="4305300"/>
            <a:ext cx="3175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en-US" altLang="en-US" sz="900">
                <a:solidFill>
                  <a:srgbClr val="C7D7E8"/>
                </a:solidFill>
                <a:latin typeface="微软雅黑" panose="020B0503020204020204" charset="-122"/>
                <a:ea typeface="微软雅黑" panose="020B0503020204020204" charset="-122"/>
              </a:rPr>
              <a:t>AuditProofRegistry</a:t>
            </a:r>
            <a:endParaRPr lang="en-US" altLang="en-US" sz="900">
              <a:solidFill>
                <a:srgbClr val="C7D7E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圆角矩形 93"/>
          <p:cNvSpPr/>
          <p:nvPr/>
        </p:nvSpPr>
        <p:spPr>
          <a:xfrm>
            <a:off x="7086600" y="4635500"/>
            <a:ext cx="10668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24D5FF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50100" y="4699000"/>
            <a:ext cx="939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80000"/>
          </a:bodyPr>
          <a:p>
            <a:pPr algn="ctr"/>
            <a:r>
              <a:rPr lang="en-US" altLang="en-US" sz="1365" b="1">
                <a:solidFill>
                  <a:srgbClr val="24D5FF"/>
                </a:solidFill>
                <a:latin typeface="Aptos" charset="0"/>
                <a:cs typeface="Aptos" charset="0"/>
              </a:rPr>
              <a:t>CC3 TESTNET</a:t>
            </a:r>
            <a:endParaRPr lang="en-US" altLang="en-US" sz="1365" b="1">
              <a:solidFill>
                <a:srgbClr val="24D5FF"/>
              </a:solidFill>
              <a:latin typeface="Aptos" charset="0"/>
              <a:cs typeface="Aptos" charset="0"/>
            </a:endParaRPr>
          </a:p>
        </p:txBody>
      </p:sp>
      <p:sp>
        <p:nvSpPr>
          <p:cNvPr id="96" name="圆角矩形 95"/>
          <p:cNvSpPr/>
          <p:nvPr/>
        </p:nvSpPr>
        <p:spPr>
          <a:xfrm>
            <a:off x="8229600" y="4635500"/>
            <a:ext cx="8890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FFCB66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7" name="文本框 96"/>
          <p:cNvSpPr txBox="1"/>
          <p:nvPr/>
        </p:nvSpPr>
        <p:spPr>
          <a:xfrm>
            <a:off x="8293100" y="4699000"/>
            <a:ext cx="762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80000"/>
          </a:bodyPr>
          <a:p>
            <a:pPr algn="ctr"/>
            <a:r>
              <a:rPr lang="en-US" altLang="en-US" sz="1365" b="1">
                <a:solidFill>
                  <a:srgbClr val="FFCB66"/>
                </a:solidFill>
                <a:latin typeface="Aptos" charset="0"/>
                <a:cs typeface="Aptos" charset="0"/>
              </a:rPr>
              <a:t>MockUSDC</a:t>
            </a:r>
            <a:endParaRPr lang="en-US" altLang="en-US" sz="1365" b="1">
              <a:solidFill>
                <a:srgbClr val="FFCB66"/>
              </a:solidFill>
              <a:latin typeface="Aptos" charset="0"/>
              <a:cs typeface="Aptos" charset="0"/>
            </a:endParaRPr>
          </a:p>
        </p:txBody>
      </p:sp>
      <p:sp>
        <p:nvSpPr>
          <p:cNvPr id="98" name="圆角矩形 97"/>
          <p:cNvSpPr/>
          <p:nvPr/>
        </p:nvSpPr>
        <p:spPr>
          <a:xfrm>
            <a:off x="9194800" y="4635500"/>
            <a:ext cx="9906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45F0C5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9" name="文本框 98"/>
          <p:cNvSpPr txBox="1"/>
          <p:nvPr/>
        </p:nvSpPr>
        <p:spPr>
          <a:xfrm>
            <a:off x="9258300" y="4699000"/>
            <a:ext cx="8636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 fontScale="90000"/>
          </a:bodyPr>
          <a:p>
            <a:pPr algn="ctr"/>
            <a:r>
              <a:rPr lang="zh-CN" altLang="en-US" sz="1365" b="1">
                <a:solidFill>
                  <a:srgbClr val="45F0C5"/>
                </a:solidFill>
                <a:latin typeface="Aptos" charset="0"/>
                <a:cs typeface="Aptos" charset="0"/>
              </a:rPr>
              <a:t>许可式</a:t>
            </a:r>
            <a:r>
              <a:rPr lang="en-US" altLang="zh-CN" sz="1365" b="1">
                <a:solidFill>
                  <a:srgbClr val="45F0C5"/>
                </a:solidFill>
                <a:latin typeface="Aptos" charset="0"/>
                <a:cs typeface="Aptos" charset="0"/>
              </a:rPr>
              <a:t> MVP</a:t>
            </a:r>
            <a:endParaRPr lang="en-US" altLang="zh-CN" sz="1365" b="1">
              <a:solidFill>
                <a:srgbClr val="45F0C5"/>
              </a:solidFill>
              <a:latin typeface="Aptos" charset="0"/>
              <a:cs typeface="Aptos" charset="0"/>
            </a:endParaRPr>
          </a:p>
        </p:txBody>
      </p:sp>
      <p:sp>
        <p:nvSpPr>
          <p:cNvPr id="100" name="圆角矩形 99"/>
          <p:cNvSpPr/>
          <p:nvPr/>
        </p:nvSpPr>
        <p:spPr>
          <a:xfrm>
            <a:off x="10261600" y="4635500"/>
            <a:ext cx="1066800" cy="2794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3B82F6">
                <a:alpha val="6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1" name="文本框 100"/>
          <p:cNvSpPr txBox="1"/>
          <p:nvPr/>
        </p:nvSpPr>
        <p:spPr>
          <a:xfrm>
            <a:off x="10325100" y="4699000"/>
            <a:ext cx="939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1170" b="1">
                <a:solidFill>
                  <a:srgbClr val="3B82F6"/>
                </a:solidFill>
                <a:latin typeface="Aptos" charset="0"/>
                <a:cs typeface="Aptos" charset="0"/>
              </a:rPr>
              <a:t>受限</a:t>
            </a:r>
            <a:r>
              <a:rPr lang="en-US" altLang="zh-CN" sz="1170" b="1">
                <a:solidFill>
                  <a:srgbClr val="3B82F6"/>
                </a:solidFill>
                <a:latin typeface="Aptos" charset="0"/>
                <a:cs typeface="Aptos" charset="0"/>
              </a:rPr>
              <a:t> Relayer</a:t>
            </a:r>
            <a:endParaRPr lang="en-US" altLang="zh-CN" sz="1170" b="1">
              <a:solidFill>
                <a:srgbClr val="3B82F6"/>
              </a:solidFill>
              <a:latin typeface="Aptos" charset="0"/>
              <a:cs typeface="Aptos" charset="0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7086600" y="5041900"/>
            <a:ext cx="4241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940">
                <a:solidFill>
                  <a:srgbClr val="7894AF"/>
                </a:solidFill>
                <a:latin typeface="微软雅黑" panose="020B0503020204020204" charset="-122"/>
                <a:ea typeface="微软雅黑" panose="020B0503020204020204" charset="-122"/>
              </a:rPr>
              <a:t>审计证明交易事实，不等于余额充足或还款保证。</a:t>
            </a:r>
            <a:endParaRPr lang="zh-CN" altLang="en-US" sz="940">
              <a:solidFill>
                <a:srgbClr val="7894A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/>
        </p:nvSpPr>
        <p:spPr>
          <a:xfrm>
            <a:off x="609600" y="5600700"/>
            <a:ext cx="10972800" cy="647700"/>
          </a:xfrm>
          <a:prstGeom prst="roundRect">
            <a:avLst/>
          </a:prstGeom>
          <a:solidFill>
            <a:srgbClr val="102A47"/>
          </a:solidFill>
          <a:ln w="12700">
            <a:solidFill>
              <a:srgbClr val="244666">
                <a:alpha val="75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4" name="文本框 103"/>
          <p:cNvSpPr txBox="1"/>
          <p:nvPr/>
        </p:nvSpPr>
        <p:spPr>
          <a:xfrm>
            <a:off x="889000" y="57150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890" b="1">
                <a:solidFill>
                  <a:srgbClr val="24D5FF"/>
                </a:solidFill>
                <a:latin typeface="微软雅黑" panose="020B0503020204020204" charset="-122"/>
                <a:ea typeface="微软雅黑" panose="020B0503020204020204" charset="-122"/>
              </a:rPr>
              <a:t>供应商</a:t>
            </a:r>
            <a:endParaRPr lang="zh-CN" altLang="en-US" sz="890" b="1">
              <a:solidFill>
                <a:srgbClr val="24D5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889000" y="5930900"/>
            <a:ext cx="2921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13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提前获得流动性</a:t>
            </a:r>
            <a:endParaRPr lang="zh-CN" altLang="en-US" sz="113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6" name="文本框 105"/>
          <p:cNvSpPr txBox="1"/>
          <p:nvPr/>
        </p:nvSpPr>
        <p:spPr>
          <a:xfrm>
            <a:off x="4572000" y="57150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890" b="1">
                <a:solidFill>
                  <a:srgbClr val="FFCB66"/>
                </a:solidFill>
                <a:latin typeface="微软雅黑" panose="020B0503020204020204" charset="-122"/>
                <a:ea typeface="微软雅黑" panose="020B0503020204020204" charset="-122"/>
              </a:rPr>
              <a:t>核心买方</a:t>
            </a:r>
            <a:endParaRPr lang="zh-CN" altLang="en-US" sz="890" b="1">
              <a:solidFill>
                <a:srgbClr val="FFCB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4572000" y="5930900"/>
            <a:ext cx="2921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13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确权时不锁款</a:t>
            </a:r>
            <a:endParaRPr lang="zh-CN" altLang="en-US" sz="113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文本框 107"/>
          <p:cNvSpPr txBox="1"/>
          <p:nvPr/>
        </p:nvSpPr>
        <p:spPr>
          <a:xfrm>
            <a:off x="8255000" y="5715000"/>
            <a:ext cx="889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890" b="1">
                <a:solidFill>
                  <a:srgbClr val="45F0C5"/>
                </a:solidFill>
                <a:latin typeface="微软雅黑" panose="020B0503020204020204" charset="-122"/>
                <a:ea typeface="微软雅黑" panose="020B0503020204020204" charset="-122"/>
              </a:rPr>
              <a:t>资金方</a:t>
            </a:r>
            <a:endParaRPr lang="zh-CN" altLang="en-US" sz="890" b="1">
              <a:solidFill>
                <a:srgbClr val="45F0C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" name="文本框 108"/>
          <p:cNvSpPr txBox="1"/>
          <p:nvPr/>
        </p:nvSpPr>
        <p:spPr>
          <a:xfrm>
            <a:off x="8255000" y="5930900"/>
            <a:ext cx="29210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l"/>
            <a:r>
              <a:rPr lang="zh-CN" altLang="en-US" sz="1135" b="1">
                <a:solidFill>
                  <a:srgbClr val="F4F8FC"/>
                </a:solidFill>
                <a:latin typeface="微软雅黑" panose="020B0503020204020204" charset="-122"/>
                <a:ea typeface="微软雅黑" panose="020B0503020204020204" charset="-122"/>
              </a:rPr>
              <a:t>可验证权属与到期兑付</a:t>
            </a:r>
            <a:endParaRPr lang="zh-CN" altLang="en-US" sz="1135" b="1">
              <a:solidFill>
                <a:srgbClr val="F4F8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10" name="直接连接符 109"/>
          <p:cNvCxnSpPr/>
          <p:nvPr/>
        </p:nvCxnSpPr>
        <p:spPr>
          <a:xfrm>
            <a:off x="4279900" y="5715000"/>
            <a:ext cx="635" cy="419100"/>
          </a:xfrm>
          <a:prstGeom prst="line">
            <a:avLst/>
          </a:prstGeom>
          <a:ln w="10160">
            <a:solidFill>
              <a:srgbClr val="24466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" name="直接连接符 110"/>
          <p:cNvCxnSpPr/>
          <p:nvPr/>
        </p:nvCxnSpPr>
        <p:spPr>
          <a:xfrm>
            <a:off x="7962900" y="5715000"/>
            <a:ext cx="635" cy="419100"/>
          </a:xfrm>
          <a:prstGeom prst="line">
            <a:avLst/>
          </a:prstGeom>
          <a:ln w="10160">
            <a:solidFill>
              <a:srgbClr val="24466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" name="文本框 111"/>
          <p:cNvSpPr txBox="1"/>
          <p:nvPr/>
        </p:nvSpPr>
        <p:spPr>
          <a:xfrm>
            <a:off x="609600" y="6311900"/>
            <a:ext cx="10972800" cy="322580"/>
          </a:xfrm>
          <a:prstGeom prst="rect">
            <a:avLst/>
          </a:prstGeom>
          <a:noFill/>
        </p:spPr>
        <p:txBody>
          <a:bodyPr wrap="square" lIns="0" tIns="0" rIns="0" rtlCol="0" anchor="t">
            <a:normAutofit/>
          </a:bodyPr>
          <a:p>
            <a:pPr algn="ctr"/>
            <a:r>
              <a:rPr lang="zh-CN" altLang="en-US" sz="835">
                <a:solidFill>
                  <a:srgbClr val="7894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演示边界：</a:t>
            </a:r>
            <a:r>
              <a:rPr lang="en-US" altLang="zh-CN" sz="835">
                <a:solidFill>
                  <a:srgbClr val="7894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Creditcoin CC3 </a:t>
            </a:r>
            <a:r>
              <a:rPr lang="zh-CN" altLang="en-US" sz="835">
                <a:solidFill>
                  <a:srgbClr val="7894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测试网</a:t>
            </a:r>
            <a:r>
              <a:rPr lang="en-US" altLang="zh-CN" sz="835">
                <a:solidFill>
                  <a:srgbClr val="7894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MockUSDC · </a:t>
            </a:r>
            <a:r>
              <a:rPr lang="zh-CN" altLang="en-US" sz="835">
                <a:solidFill>
                  <a:srgbClr val="7894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许可式流程</a:t>
            </a:r>
            <a:endParaRPr lang="zh-CN" altLang="en-US" sz="835">
              <a:solidFill>
                <a:srgbClr val="7894A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1150</Words>
  <Application>WPS 演示</Application>
  <PresentationFormat>宽屏</PresentationFormat>
  <Paragraphs>180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Arial Unicode MS</vt:lpstr>
      <vt:lpstr>微软雅黑</vt:lpstr>
      <vt:lpstr>Calibri</vt:lpstr>
      <vt:lpstr>Aptos</vt:lpstr>
      <vt:lpstr>Segoe UI</vt:lpstr>
      <vt:lpstr>Aptos Display</vt:lpstr>
      <vt:lpstr>Segoe UI Variable Display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phily</dc:creator>
  <cp:lastModifiedBy>phil</cp:lastModifiedBy>
  <cp:revision>157</cp:revision>
  <dcterms:created xsi:type="dcterms:W3CDTF">2019-06-19T02:08:00Z</dcterms:created>
  <dcterms:modified xsi:type="dcterms:W3CDTF">2026-08-27T03:58:33Z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F3305148DD8541C2907671142D23FEC4_11</vt:lpwstr>
  </property>
</Properties>
</file>