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426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71426"/>
                </a:solid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4D5FF"/>
          </a:solidFill>
          <a:ln w="12700">
            <a:solidFill>
              <a:srgbClr val="24D5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6096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10668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15240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19812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24384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28956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33528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8100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2672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7244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1816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56388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60960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65532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70104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74676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79248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83820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88392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92964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97536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102108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106680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111252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115824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381000" y="431800"/>
            <a:ext cx="11430000" cy="635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381000" y="889000"/>
            <a:ext cx="11430000" cy="635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381000" y="1346200"/>
            <a:ext cx="11430000" cy="635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381000" y="1803400"/>
            <a:ext cx="11430000" cy="635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381000" y="2260600"/>
            <a:ext cx="11430000" cy="635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381000" y="2717800"/>
            <a:ext cx="11430000" cy="635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381000" y="3175000"/>
            <a:ext cx="11430000" cy="635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381000" y="3632200"/>
            <a:ext cx="11430000" cy="635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381000" y="4089400"/>
            <a:ext cx="11430000" cy="635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381000" y="4546600"/>
            <a:ext cx="11430000" cy="635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381000" y="5003800"/>
            <a:ext cx="11430000" cy="635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381000" y="5461000"/>
            <a:ext cx="11430000" cy="635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381000" y="5918200"/>
            <a:ext cx="11430000" cy="635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381000" y="6375400"/>
            <a:ext cx="11430000" cy="635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" name="矩形 42"/>
          <p:cNvSpPr/>
          <p:nvPr/>
        </p:nvSpPr>
        <p:spPr>
          <a:xfrm>
            <a:off x="0" y="50800"/>
            <a:ext cx="12192000" cy="6413500"/>
          </a:xfrm>
          <a:prstGeom prst="rect">
            <a:avLst/>
          </a:prstGeom>
          <a:solidFill>
            <a:srgbClr val="071426">
              <a:alpha val="90000"/>
            </a:srgbClr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71426"/>
                </a:solid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椭圆 43"/>
          <p:cNvSpPr/>
          <p:nvPr/>
        </p:nvSpPr>
        <p:spPr>
          <a:xfrm>
            <a:off x="9804400" y="-1676400"/>
            <a:ext cx="4089400" cy="4089400"/>
          </a:xfrm>
          <a:prstGeom prst="ellipse">
            <a:avLst/>
          </a:prstGeom>
          <a:solidFill>
            <a:srgbClr val="3B82F6">
              <a:alpha val="9000"/>
            </a:srgbClr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椭圆 44"/>
          <p:cNvSpPr/>
          <p:nvPr/>
        </p:nvSpPr>
        <p:spPr>
          <a:xfrm>
            <a:off x="-1498600" y="5194300"/>
            <a:ext cx="2997200" cy="2997200"/>
          </a:xfrm>
          <a:prstGeom prst="ellipse">
            <a:avLst/>
          </a:prstGeom>
          <a:solidFill>
            <a:srgbClr val="24D5FF">
              <a:alpha val="6000"/>
            </a:srgbClr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6" name="直接连接符 45"/>
          <p:cNvCxnSpPr/>
          <p:nvPr/>
        </p:nvCxnSpPr>
        <p:spPr>
          <a:xfrm>
            <a:off x="609600" y="6502400"/>
            <a:ext cx="10972800" cy="635"/>
          </a:xfrm>
          <a:prstGeom prst="line">
            <a:avLst/>
          </a:prstGeom>
          <a:ln w="9525">
            <a:solidFill>
              <a:srgbClr val="24466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>
            <a:off x="609600" y="6578600"/>
            <a:ext cx="1587500" cy="322580"/>
          </a:xfrm>
          <a:prstGeom prst="rect">
            <a:avLst/>
          </a:prstGeom>
          <a:noFill/>
        </p:spPr>
        <p:txBody>
          <a:bodyPr wrap="square" lIns="0" tIns="0" rIns="0" rtlCol="0" anchor="ctr">
            <a:noAutofit/>
          </a:bodyPr>
          <a:p>
            <a:pPr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750" b="1">
                <a:solidFill>
                  <a:srgbClr val="7894AF"/>
                </a:solidFill>
                <a:latin typeface="Aptos" charset="0"/>
                <a:cs typeface="Aptos" charset="0"/>
              </a:rPr>
              <a:t>SUPPLYCHAINX402</a:t>
            </a:r>
            <a:endParaRPr lang="en-US" altLang="en-US" sz="750" b="1">
              <a:solidFill>
                <a:srgbClr val="7894AF"/>
              </a:solidFill>
              <a:latin typeface="Aptos" charset="0"/>
              <a:cs typeface="Aptos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9448800" y="6578600"/>
            <a:ext cx="1879600" cy="322580"/>
          </a:xfrm>
          <a:prstGeom prst="rect">
            <a:avLst/>
          </a:prstGeom>
          <a:noFill/>
        </p:spPr>
        <p:txBody>
          <a:bodyPr wrap="square" lIns="0" tIns="0" rIns="0" rtlCol="0" anchor="ctr">
            <a:noAutofit/>
          </a:bodyPr>
          <a:p>
            <a:pPr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750" b="1">
                <a:solidFill>
                  <a:srgbClr val="7894AF"/>
                </a:solidFill>
                <a:latin typeface="Aptos" charset="0"/>
                <a:cs typeface="Aptos" charset="0"/>
              </a:rPr>
              <a:t>ATTESTFLOW · CC3 MVP</a:t>
            </a:r>
            <a:endParaRPr lang="en-US" altLang="en-US" sz="750" b="1">
              <a:solidFill>
                <a:srgbClr val="7894AF"/>
              </a:solidFill>
              <a:latin typeface="Aptos" charset="0"/>
              <a:cs typeface="Aptos" charset="0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11493500" y="6578600"/>
            <a:ext cx="152400" cy="322580"/>
          </a:xfrm>
          <a:prstGeom prst="rect">
            <a:avLst/>
          </a:prstGeom>
          <a:noFill/>
        </p:spPr>
        <p:txBody>
          <a:bodyPr wrap="square" lIns="0" tIns="0" rIns="0" rtlCol="0" anchor="ctr">
            <a:noAutofit/>
          </a:bodyPr>
          <a:p>
            <a:pPr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750">
                <a:solidFill>
                  <a:srgbClr val="7894AF"/>
                </a:solidFill>
                <a:latin typeface="Aptos" charset="0"/>
                <a:cs typeface="Aptos" charset="0"/>
              </a:rPr>
              <a:t>1</a:t>
            </a:r>
            <a:endParaRPr lang="en-US" altLang="en-US" sz="750">
              <a:solidFill>
                <a:srgbClr val="7894AF"/>
              </a:solidFill>
              <a:latin typeface="Aptos" charset="0"/>
              <a:cs typeface="Aptos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622300" y="355600"/>
            <a:ext cx="4318000" cy="360680"/>
          </a:xfrm>
          <a:prstGeom prst="rect">
            <a:avLst/>
          </a:prstGeom>
          <a:noFill/>
        </p:spPr>
        <p:txBody>
          <a:bodyPr wrap="square" lIns="38100" tIns="38100" rIns="38100" rtlCol="0" anchor="t">
            <a:noAutofit/>
          </a:bodyPr>
          <a:p>
            <a:pPr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850" b="1" spc="150">
                <a:solidFill>
                  <a:srgbClr val="24D5FF"/>
                </a:solidFill>
                <a:latin typeface="Aptos" charset="0"/>
                <a:cs typeface="Aptos" charset="0"/>
              </a:rPr>
              <a:t>01  /  </a:t>
            </a:r>
            <a:r>
              <a:rPr lang="zh-CN" altLang="en-US" sz="850" b="1" spc="150">
                <a:solidFill>
                  <a:srgbClr val="24D5FF"/>
                </a:solidFill>
                <a:latin typeface="Aptos" charset="0"/>
                <a:cs typeface="Aptos" charset="0"/>
              </a:rPr>
              <a:t>供应链金融模式</a:t>
            </a:r>
            <a:endParaRPr lang="zh-CN" altLang="en-US" sz="850" b="1" spc="150">
              <a:solidFill>
                <a:srgbClr val="24D5FF"/>
              </a:solidFill>
              <a:latin typeface="Aptos" charset="0"/>
              <a:cs typeface="Aptos" charset="0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609600" y="660400"/>
            <a:ext cx="10972800" cy="360680"/>
          </a:xfrm>
          <a:prstGeom prst="rect">
            <a:avLst/>
          </a:prstGeom>
          <a:noFill/>
        </p:spPr>
        <p:txBody>
          <a:bodyPr wrap="square" lIns="38100" tIns="38100" rIns="38100" rtlCol="0" anchor="t">
            <a:noAutofit/>
          </a:bodyPr>
          <a:p>
            <a:pPr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350" b="1">
                <a:solidFill>
                  <a:srgbClr val="F4F8FC"/>
                </a:solidFill>
                <a:latin typeface="微软雅黑" panose="020B0503020204020204" charset="-122"/>
                <a:ea typeface="微软雅黑" panose="020B0503020204020204" charset="-122"/>
              </a:rPr>
              <a:t>从真实贸易到到期兑付：一笔应收账款的融资闭环</a:t>
            </a:r>
            <a:endParaRPr lang="zh-CN" altLang="en-US" sz="2350" b="1">
              <a:solidFill>
                <a:srgbClr val="F4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622300" y="1282700"/>
            <a:ext cx="10795000" cy="360680"/>
          </a:xfrm>
          <a:prstGeom prst="rect">
            <a:avLst/>
          </a:prstGeom>
          <a:noFill/>
        </p:spPr>
        <p:txBody>
          <a:bodyPr wrap="square" lIns="38100" tIns="38100" rIns="38100" rtlCol="0" anchor="t">
            <a:noAutofit/>
          </a:bodyPr>
          <a:p>
            <a:pPr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5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</a:rPr>
              <a:t>买方先确权，供应商凭买方信用获得无追索融资；到期由预签授权驱动稳定币结算。</a:t>
            </a:r>
            <a:endParaRPr lang="zh-CN" altLang="en-US" sz="1050">
              <a:solidFill>
                <a:srgbClr val="C7D7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3" name="直接连接符 52"/>
          <p:cNvCxnSpPr/>
          <p:nvPr/>
        </p:nvCxnSpPr>
        <p:spPr>
          <a:xfrm>
            <a:off x="1320800" y="3035300"/>
            <a:ext cx="9652000" cy="635"/>
          </a:xfrm>
          <a:prstGeom prst="line">
            <a:avLst/>
          </a:prstGeom>
          <a:ln w="22860">
            <a:solidFill>
              <a:srgbClr val="244666">
                <a:alpha val="66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>
            <a:off x="2082800" y="3035300"/>
            <a:ext cx="368300" cy="635"/>
          </a:xfrm>
          <a:prstGeom prst="line">
            <a:avLst/>
          </a:prstGeom>
          <a:ln w="19050">
            <a:solidFill>
              <a:srgbClr val="3B82F6">
                <a:alpha val="88000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>
            <a:off x="4013200" y="3035300"/>
            <a:ext cx="368300" cy="635"/>
          </a:xfrm>
          <a:prstGeom prst="line">
            <a:avLst/>
          </a:prstGeom>
          <a:ln w="19050">
            <a:solidFill>
              <a:srgbClr val="3B82F6">
                <a:alpha val="88000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>
            <a:off x="5943600" y="3035300"/>
            <a:ext cx="368300" cy="635"/>
          </a:xfrm>
          <a:prstGeom prst="line">
            <a:avLst/>
          </a:prstGeom>
          <a:ln w="19050">
            <a:solidFill>
              <a:srgbClr val="3B82F6">
                <a:alpha val="88000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>
            <a:off x="7874000" y="3035300"/>
            <a:ext cx="368300" cy="635"/>
          </a:xfrm>
          <a:prstGeom prst="line">
            <a:avLst/>
          </a:prstGeom>
          <a:ln w="19050">
            <a:solidFill>
              <a:srgbClr val="3B82F6">
                <a:alpha val="88000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>
            <a:off x="9804400" y="3035300"/>
            <a:ext cx="368300" cy="635"/>
          </a:xfrm>
          <a:prstGeom prst="line">
            <a:avLst/>
          </a:prstGeom>
          <a:ln w="19050">
            <a:solidFill>
              <a:srgbClr val="3B82F6">
                <a:alpha val="88000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9" name="圆角矩形 58"/>
          <p:cNvSpPr/>
          <p:nvPr/>
        </p:nvSpPr>
        <p:spPr>
          <a:xfrm>
            <a:off x="609600" y="1841500"/>
            <a:ext cx="1422400" cy="2387600"/>
          </a:xfrm>
          <a:prstGeom prst="roundRect">
            <a:avLst/>
          </a:prstGeom>
          <a:solidFill>
            <a:srgbClr val="0D2037"/>
          </a:solidFill>
          <a:ln w="12700">
            <a:solidFill>
              <a:srgbClr val="244666">
                <a:alpha val="88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椭圆 59"/>
          <p:cNvSpPr/>
          <p:nvPr/>
        </p:nvSpPr>
        <p:spPr>
          <a:xfrm>
            <a:off x="1143000" y="1676400"/>
            <a:ext cx="355600" cy="355600"/>
          </a:xfrm>
          <a:prstGeom prst="ellipse">
            <a:avLst/>
          </a:prstGeom>
          <a:solidFill>
            <a:srgbClr val="24D5FF"/>
          </a:solidFill>
          <a:ln w="25400">
            <a:solidFill>
              <a:srgbClr val="07142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文本框 60"/>
          <p:cNvSpPr txBox="1"/>
          <p:nvPr/>
        </p:nvSpPr>
        <p:spPr>
          <a:xfrm>
            <a:off x="1143000" y="1778000"/>
            <a:ext cx="355600" cy="322580"/>
          </a:xfrm>
          <a:prstGeom prst="rect">
            <a:avLst/>
          </a:prstGeom>
          <a:noFill/>
        </p:spPr>
        <p:txBody>
          <a:bodyPr wrap="square" lIns="0" tIns="0" rIns="0" rtlCol="0" anchor="ctr">
            <a:noAutofit/>
          </a:bodyPr>
          <a:p>
            <a:pPr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750" b="1">
                <a:solidFill>
                  <a:srgbClr val="071426"/>
                </a:solidFill>
                <a:latin typeface="Aptos" charset="0"/>
                <a:cs typeface="Aptos" charset="0"/>
              </a:rPr>
              <a:t>01</a:t>
            </a:r>
            <a:endParaRPr lang="en-US" altLang="en-US" sz="750" b="1">
              <a:solidFill>
                <a:srgbClr val="071426"/>
              </a:solidFill>
              <a:latin typeface="Aptos" charset="0"/>
              <a:cs typeface="Aptos" charset="0"/>
            </a:endParaRPr>
          </a:p>
        </p:txBody>
      </p:sp>
      <p:sp>
        <p:nvSpPr>
          <p:cNvPr id="62" name="圆角矩形 61"/>
          <p:cNvSpPr/>
          <p:nvPr/>
        </p:nvSpPr>
        <p:spPr>
          <a:xfrm>
            <a:off x="812800" y="2260600"/>
            <a:ext cx="1016000" cy="304800"/>
          </a:xfrm>
          <a:prstGeom prst="roundRect">
            <a:avLst/>
          </a:prstGeom>
          <a:solidFill>
            <a:srgbClr val="102A47"/>
          </a:solidFill>
          <a:ln w="12700">
            <a:solidFill>
              <a:srgbClr val="24D5FF">
                <a:alpha val="48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文本框 62"/>
          <p:cNvSpPr txBox="1"/>
          <p:nvPr/>
        </p:nvSpPr>
        <p:spPr>
          <a:xfrm>
            <a:off x="876300" y="2298700"/>
            <a:ext cx="889000" cy="335280"/>
          </a:xfrm>
          <a:prstGeom prst="rect">
            <a:avLst/>
          </a:prstGeom>
          <a:noFill/>
        </p:spPr>
        <p:txBody>
          <a:bodyPr wrap="square" lIns="12700" tIns="12700" rIns="12700" rtlCol="0" anchor="ctr">
            <a:noAutofit/>
          </a:bodyPr>
          <a:p>
            <a:pPr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860" b="1">
                <a:solidFill>
                  <a:srgbClr val="24D5FF"/>
                </a:solidFill>
                <a:latin typeface="Aptos" charset="0"/>
                <a:ea typeface="Aptos" charset="0"/>
              </a:rPr>
              <a:t>供应商</a:t>
            </a:r>
            <a:endParaRPr lang="zh-CN" altLang="en-US" sz="860" b="1">
              <a:solidFill>
                <a:srgbClr val="24D5FF"/>
              </a:solidFill>
              <a:latin typeface="Aptos" charset="0"/>
              <a:ea typeface="Aptos" charset="0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711200" y="2717800"/>
            <a:ext cx="1219200" cy="347980"/>
          </a:xfrm>
          <a:prstGeom prst="rect">
            <a:avLst/>
          </a:prstGeom>
          <a:noFill/>
        </p:spPr>
        <p:txBody>
          <a:bodyPr wrap="square" lIns="25400" tIns="25400" rIns="25400" rtlCol="0" anchor="ctr">
            <a:noAutofit/>
          </a:bodyPr>
          <a:p>
            <a:pPr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1">
                <a:solidFill>
                  <a:srgbClr val="F4F8FC"/>
                </a:solidFill>
                <a:latin typeface="微软雅黑" panose="020B0503020204020204" charset="-122"/>
                <a:ea typeface="微软雅黑" panose="020B0503020204020204" charset="-122"/>
              </a:rPr>
              <a:t>提交贸易资料</a:t>
            </a:r>
            <a:endParaRPr lang="zh-CN" altLang="en-US" sz="1250" b="1">
              <a:solidFill>
                <a:srgbClr val="F4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5" name="直接连接符 64"/>
          <p:cNvCxnSpPr/>
          <p:nvPr/>
        </p:nvCxnSpPr>
        <p:spPr>
          <a:xfrm>
            <a:off x="914400" y="3187700"/>
            <a:ext cx="812800" cy="635"/>
          </a:xfrm>
          <a:prstGeom prst="line">
            <a:avLst/>
          </a:prstGeom>
          <a:ln w="10160">
            <a:solidFill>
              <a:srgbClr val="24D5F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6" name="文本框 65"/>
          <p:cNvSpPr txBox="1"/>
          <p:nvPr/>
        </p:nvSpPr>
        <p:spPr>
          <a:xfrm>
            <a:off x="711200" y="3340100"/>
            <a:ext cx="1219200" cy="347980"/>
          </a:xfrm>
          <a:prstGeom prst="rect">
            <a:avLst/>
          </a:prstGeom>
          <a:noFill/>
        </p:spPr>
        <p:txBody>
          <a:bodyPr wrap="square" lIns="25400" tIns="25400" rIns="25400" rtlCol="0" anchor="t">
            <a:noAutofit/>
          </a:bodyPr>
          <a:p>
            <a:pPr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90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合同</a:t>
            </a:r>
            <a:r>
              <a:rPr lang="en-US" altLang="zh-CN" sz="90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PO / </a:t>
            </a:r>
            <a:r>
              <a:rPr lang="zh-CN" altLang="en-US" sz="90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发票</a:t>
            </a:r>
            <a:r>
              <a:rPr lang="en-US" altLang="zh-CN" sz="90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90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验收记录</a:t>
            </a:r>
            <a:endParaRPr lang="zh-CN" altLang="en-US" sz="900">
              <a:solidFill>
                <a:srgbClr val="C7D7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圆角矩形 66"/>
          <p:cNvSpPr/>
          <p:nvPr/>
        </p:nvSpPr>
        <p:spPr>
          <a:xfrm>
            <a:off x="2540000" y="1841500"/>
            <a:ext cx="1422400" cy="2387600"/>
          </a:xfrm>
          <a:prstGeom prst="roundRect">
            <a:avLst/>
          </a:prstGeom>
          <a:solidFill>
            <a:srgbClr val="0D2037"/>
          </a:solidFill>
          <a:ln w="12700">
            <a:solidFill>
              <a:srgbClr val="244666">
                <a:alpha val="88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椭圆 67"/>
          <p:cNvSpPr/>
          <p:nvPr/>
        </p:nvSpPr>
        <p:spPr>
          <a:xfrm>
            <a:off x="3073400" y="1676400"/>
            <a:ext cx="355600" cy="355600"/>
          </a:xfrm>
          <a:prstGeom prst="ellipse">
            <a:avLst/>
          </a:prstGeom>
          <a:solidFill>
            <a:srgbClr val="FFCB66"/>
          </a:solidFill>
          <a:ln w="25400">
            <a:solidFill>
              <a:srgbClr val="07142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9" name="文本框 68"/>
          <p:cNvSpPr txBox="1"/>
          <p:nvPr/>
        </p:nvSpPr>
        <p:spPr>
          <a:xfrm>
            <a:off x="3073400" y="1778000"/>
            <a:ext cx="355600" cy="322580"/>
          </a:xfrm>
          <a:prstGeom prst="rect">
            <a:avLst/>
          </a:prstGeom>
          <a:noFill/>
        </p:spPr>
        <p:txBody>
          <a:bodyPr wrap="square" lIns="0" tIns="0" rIns="0" rtlCol="0" anchor="ctr">
            <a:noAutofit/>
          </a:bodyPr>
          <a:p>
            <a:pPr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750" b="1">
                <a:solidFill>
                  <a:srgbClr val="071426"/>
                </a:solidFill>
                <a:latin typeface="Aptos" charset="0"/>
                <a:cs typeface="Aptos" charset="0"/>
              </a:rPr>
              <a:t>02</a:t>
            </a:r>
            <a:endParaRPr lang="en-US" altLang="en-US" sz="750" b="1">
              <a:solidFill>
                <a:srgbClr val="071426"/>
              </a:solidFill>
              <a:latin typeface="Aptos" charset="0"/>
              <a:cs typeface="Aptos" charset="0"/>
            </a:endParaRPr>
          </a:p>
        </p:txBody>
      </p:sp>
      <p:sp>
        <p:nvSpPr>
          <p:cNvPr id="70" name="圆角矩形 69"/>
          <p:cNvSpPr/>
          <p:nvPr/>
        </p:nvSpPr>
        <p:spPr>
          <a:xfrm>
            <a:off x="2743200" y="2260600"/>
            <a:ext cx="1016000" cy="304800"/>
          </a:xfrm>
          <a:prstGeom prst="roundRect">
            <a:avLst/>
          </a:prstGeom>
          <a:solidFill>
            <a:srgbClr val="102A47"/>
          </a:solidFill>
          <a:ln w="12700">
            <a:solidFill>
              <a:srgbClr val="FFCB66">
                <a:alpha val="48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1" name="文本框 70"/>
          <p:cNvSpPr txBox="1"/>
          <p:nvPr/>
        </p:nvSpPr>
        <p:spPr>
          <a:xfrm>
            <a:off x="2806700" y="2298700"/>
            <a:ext cx="889000" cy="335280"/>
          </a:xfrm>
          <a:prstGeom prst="rect">
            <a:avLst/>
          </a:prstGeom>
          <a:noFill/>
        </p:spPr>
        <p:txBody>
          <a:bodyPr wrap="square" lIns="12700" tIns="12700" rIns="12700" rtlCol="0" anchor="ctr">
            <a:noAutofit/>
          </a:bodyPr>
          <a:p>
            <a:pPr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860" b="1">
                <a:solidFill>
                  <a:srgbClr val="FFCB66"/>
                </a:solidFill>
                <a:latin typeface="Aptos" charset="0"/>
                <a:ea typeface="Aptos" charset="0"/>
              </a:rPr>
              <a:t>核心买方</a:t>
            </a:r>
            <a:endParaRPr lang="zh-CN" altLang="en-US" sz="860" b="1">
              <a:solidFill>
                <a:srgbClr val="FFCB66"/>
              </a:solidFill>
              <a:latin typeface="Aptos" charset="0"/>
              <a:ea typeface="Aptos" charset="0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2641600" y="2717800"/>
            <a:ext cx="1219200" cy="347980"/>
          </a:xfrm>
          <a:prstGeom prst="rect">
            <a:avLst/>
          </a:prstGeom>
          <a:noFill/>
        </p:spPr>
        <p:txBody>
          <a:bodyPr wrap="square" lIns="25400" tIns="25400" rIns="25400" rtlCol="0" anchor="ctr">
            <a:noAutofit/>
          </a:bodyPr>
          <a:p>
            <a:pPr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1">
                <a:solidFill>
                  <a:srgbClr val="F4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确权</a:t>
            </a:r>
            <a:r>
              <a:rPr lang="en-US" altLang="zh-CN" sz="1250" b="1">
                <a:solidFill>
                  <a:srgbClr val="F4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1250" b="1">
                <a:solidFill>
                  <a:srgbClr val="F4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双签</a:t>
            </a:r>
            <a:endParaRPr lang="zh-CN" altLang="en-US" sz="1250" b="1">
              <a:solidFill>
                <a:srgbClr val="F4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3" name="直接连接符 72"/>
          <p:cNvCxnSpPr/>
          <p:nvPr/>
        </p:nvCxnSpPr>
        <p:spPr>
          <a:xfrm>
            <a:off x="2844800" y="3187700"/>
            <a:ext cx="812800" cy="635"/>
          </a:xfrm>
          <a:prstGeom prst="line">
            <a:avLst/>
          </a:prstGeom>
          <a:ln w="10160">
            <a:solidFill>
              <a:srgbClr val="FFCB6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4" name="文本框 73"/>
          <p:cNvSpPr txBox="1"/>
          <p:nvPr/>
        </p:nvSpPr>
        <p:spPr>
          <a:xfrm>
            <a:off x="2641600" y="3340100"/>
            <a:ext cx="1219200" cy="347980"/>
          </a:xfrm>
          <a:prstGeom prst="rect">
            <a:avLst/>
          </a:prstGeom>
          <a:noFill/>
        </p:spPr>
        <p:txBody>
          <a:bodyPr wrap="square" lIns="25400" tIns="25400" rIns="25400" rtlCol="0" anchor="t">
            <a:noAutofit/>
          </a:bodyPr>
          <a:p>
            <a:pPr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90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Approved Payable
+ EIP-3009 </a:t>
            </a:r>
            <a:r>
              <a:rPr lang="zh-CN" altLang="en-US" sz="90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授权</a:t>
            </a:r>
            <a:r>
              <a:rPr lang="en-US" altLang="zh-CN" sz="90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90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确权时不锁款</a:t>
            </a:r>
            <a:endParaRPr lang="zh-CN" altLang="en-US" sz="900">
              <a:solidFill>
                <a:srgbClr val="C7D7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圆角矩形 74"/>
          <p:cNvSpPr/>
          <p:nvPr/>
        </p:nvSpPr>
        <p:spPr>
          <a:xfrm>
            <a:off x="4470400" y="1841500"/>
            <a:ext cx="1422400" cy="2387600"/>
          </a:xfrm>
          <a:prstGeom prst="roundRect">
            <a:avLst/>
          </a:prstGeom>
          <a:solidFill>
            <a:srgbClr val="0D2037"/>
          </a:solidFill>
          <a:ln w="12700">
            <a:solidFill>
              <a:srgbClr val="244666">
                <a:alpha val="88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6" name="椭圆 75"/>
          <p:cNvSpPr/>
          <p:nvPr/>
        </p:nvSpPr>
        <p:spPr>
          <a:xfrm>
            <a:off x="5003800" y="1676400"/>
            <a:ext cx="355600" cy="355600"/>
          </a:xfrm>
          <a:prstGeom prst="ellipse">
            <a:avLst/>
          </a:prstGeom>
          <a:solidFill>
            <a:srgbClr val="3B82F6"/>
          </a:solidFill>
          <a:ln w="25400">
            <a:solidFill>
              <a:srgbClr val="07142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7" name="文本框 76"/>
          <p:cNvSpPr txBox="1"/>
          <p:nvPr/>
        </p:nvSpPr>
        <p:spPr>
          <a:xfrm>
            <a:off x="5003800" y="1778000"/>
            <a:ext cx="355600" cy="322580"/>
          </a:xfrm>
          <a:prstGeom prst="rect">
            <a:avLst/>
          </a:prstGeom>
          <a:noFill/>
        </p:spPr>
        <p:txBody>
          <a:bodyPr wrap="square" lIns="0" tIns="0" rIns="0" rtlCol="0" anchor="ctr">
            <a:noAutofit/>
          </a:bodyPr>
          <a:p>
            <a:pPr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750" b="1">
                <a:solidFill>
                  <a:srgbClr val="071426"/>
                </a:solidFill>
                <a:latin typeface="Aptos" charset="0"/>
                <a:cs typeface="Aptos" charset="0"/>
              </a:rPr>
              <a:t>03</a:t>
            </a:r>
            <a:endParaRPr lang="en-US" altLang="en-US" sz="750" b="1">
              <a:solidFill>
                <a:srgbClr val="071426"/>
              </a:solidFill>
              <a:latin typeface="Aptos" charset="0"/>
              <a:cs typeface="Aptos" charset="0"/>
            </a:endParaRPr>
          </a:p>
        </p:txBody>
      </p:sp>
      <p:sp>
        <p:nvSpPr>
          <p:cNvPr id="78" name="圆角矩形 77"/>
          <p:cNvSpPr/>
          <p:nvPr/>
        </p:nvSpPr>
        <p:spPr>
          <a:xfrm>
            <a:off x="4673600" y="2260600"/>
            <a:ext cx="1016000" cy="304800"/>
          </a:xfrm>
          <a:prstGeom prst="roundRect">
            <a:avLst/>
          </a:prstGeom>
          <a:solidFill>
            <a:srgbClr val="102A47"/>
          </a:solidFill>
          <a:ln w="12700">
            <a:solidFill>
              <a:srgbClr val="3B82F6">
                <a:alpha val="48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9" name="文本框 78"/>
          <p:cNvSpPr txBox="1"/>
          <p:nvPr/>
        </p:nvSpPr>
        <p:spPr>
          <a:xfrm>
            <a:off x="4737100" y="2298700"/>
            <a:ext cx="889000" cy="335280"/>
          </a:xfrm>
          <a:prstGeom prst="rect">
            <a:avLst/>
          </a:prstGeom>
          <a:noFill/>
        </p:spPr>
        <p:txBody>
          <a:bodyPr wrap="square" lIns="12700" tIns="12700" rIns="12700" rtlCol="0" anchor="ctr">
            <a:noAutofit/>
          </a:bodyPr>
          <a:p>
            <a:pPr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860" b="1">
                <a:solidFill>
                  <a:srgbClr val="3B82F6"/>
                </a:solidFill>
                <a:latin typeface="Aptos" charset="0"/>
                <a:ea typeface="Aptos" charset="0"/>
              </a:rPr>
              <a:t>平台</a:t>
            </a:r>
            <a:endParaRPr lang="zh-CN" altLang="en-US" sz="860" b="1">
              <a:solidFill>
                <a:srgbClr val="3B82F6"/>
              </a:solidFill>
              <a:latin typeface="Aptos" charset="0"/>
              <a:ea typeface="Aptos" charset="0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4572000" y="2717800"/>
            <a:ext cx="1219200" cy="347980"/>
          </a:xfrm>
          <a:prstGeom prst="rect">
            <a:avLst/>
          </a:prstGeom>
          <a:noFill/>
        </p:spPr>
        <p:txBody>
          <a:bodyPr wrap="square" lIns="25400" tIns="25400" rIns="25400" rtlCol="0" anchor="ctr">
            <a:noAutofit/>
          </a:bodyPr>
          <a:p>
            <a:pPr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1">
                <a:solidFill>
                  <a:srgbClr val="F4F8FC"/>
                </a:solidFill>
                <a:latin typeface="微软雅黑" panose="020B0503020204020204" charset="-122"/>
                <a:ea typeface="微软雅黑" panose="020B0503020204020204" charset="-122"/>
              </a:rPr>
              <a:t>生成数字凭证</a:t>
            </a:r>
            <a:endParaRPr lang="zh-CN" altLang="en-US" sz="1250" b="1">
              <a:solidFill>
                <a:srgbClr val="F4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1" name="直接连接符 80"/>
          <p:cNvCxnSpPr/>
          <p:nvPr/>
        </p:nvCxnSpPr>
        <p:spPr>
          <a:xfrm>
            <a:off x="4775200" y="3187700"/>
            <a:ext cx="812800" cy="635"/>
          </a:xfrm>
          <a:prstGeom prst="line">
            <a:avLst/>
          </a:prstGeom>
          <a:ln w="1016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2" name="文本框 81"/>
          <p:cNvSpPr txBox="1"/>
          <p:nvPr/>
        </p:nvSpPr>
        <p:spPr>
          <a:xfrm>
            <a:off x="4572000" y="3340100"/>
            <a:ext cx="1219200" cy="347980"/>
          </a:xfrm>
          <a:prstGeom prst="rect">
            <a:avLst/>
          </a:prstGeom>
          <a:noFill/>
        </p:spPr>
        <p:txBody>
          <a:bodyPr wrap="square" lIns="25400" tIns="25400" rIns="25400" rtlCol="0" anchor="t">
            <a:noAutofit/>
          </a:bodyPr>
          <a:p>
            <a:pPr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90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Digital Receivable
ACTIVE · </a:t>
            </a:r>
            <a:r>
              <a:rPr lang="zh-CN" altLang="en-US" sz="90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可融资</a:t>
            </a:r>
            <a:endParaRPr lang="zh-CN" altLang="en-US" sz="900">
              <a:solidFill>
                <a:srgbClr val="C7D7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圆角矩形 82"/>
          <p:cNvSpPr/>
          <p:nvPr/>
        </p:nvSpPr>
        <p:spPr>
          <a:xfrm>
            <a:off x="6400800" y="1841500"/>
            <a:ext cx="1422400" cy="2387600"/>
          </a:xfrm>
          <a:prstGeom prst="roundRect">
            <a:avLst/>
          </a:prstGeom>
          <a:solidFill>
            <a:srgbClr val="0D2037"/>
          </a:solidFill>
          <a:ln w="12700">
            <a:solidFill>
              <a:srgbClr val="244666">
                <a:alpha val="88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4" name="椭圆 83"/>
          <p:cNvSpPr/>
          <p:nvPr/>
        </p:nvSpPr>
        <p:spPr>
          <a:xfrm>
            <a:off x="6934200" y="1676400"/>
            <a:ext cx="355600" cy="355600"/>
          </a:xfrm>
          <a:prstGeom prst="ellipse">
            <a:avLst/>
          </a:prstGeom>
          <a:solidFill>
            <a:srgbClr val="45F0C5"/>
          </a:solidFill>
          <a:ln w="25400">
            <a:solidFill>
              <a:srgbClr val="07142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5" name="文本框 84"/>
          <p:cNvSpPr txBox="1"/>
          <p:nvPr/>
        </p:nvSpPr>
        <p:spPr>
          <a:xfrm>
            <a:off x="6934200" y="1778000"/>
            <a:ext cx="355600" cy="322580"/>
          </a:xfrm>
          <a:prstGeom prst="rect">
            <a:avLst/>
          </a:prstGeom>
          <a:noFill/>
        </p:spPr>
        <p:txBody>
          <a:bodyPr wrap="square" lIns="0" tIns="0" rIns="0" rtlCol="0" anchor="ctr">
            <a:noAutofit/>
          </a:bodyPr>
          <a:p>
            <a:pPr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750" b="1">
                <a:solidFill>
                  <a:srgbClr val="071426"/>
                </a:solidFill>
                <a:latin typeface="Aptos" charset="0"/>
                <a:cs typeface="Aptos" charset="0"/>
              </a:rPr>
              <a:t>04</a:t>
            </a:r>
            <a:endParaRPr lang="en-US" altLang="en-US" sz="750" b="1">
              <a:solidFill>
                <a:srgbClr val="071426"/>
              </a:solidFill>
              <a:latin typeface="Aptos" charset="0"/>
              <a:cs typeface="Aptos" charset="0"/>
            </a:endParaRPr>
          </a:p>
        </p:txBody>
      </p:sp>
      <p:sp>
        <p:nvSpPr>
          <p:cNvPr id="86" name="圆角矩形 85"/>
          <p:cNvSpPr/>
          <p:nvPr/>
        </p:nvSpPr>
        <p:spPr>
          <a:xfrm>
            <a:off x="6604000" y="2260600"/>
            <a:ext cx="1016000" cy="304800"/>
          </a:xfrm>
          <a:prstGeom prst="roundRect">
            <a:avLst/>
          </a:prstGeom>
          <a:solidFill>
            <a:srgbClr val="102A47"/>
          </a:solidFill>
          <a:ln w="12700">
            <a:solidFill>
              <a:srgbClr val="45F0C5">
                <a:alpha val="48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7" name="文本框 86"/>
          <p:cNvSpPr txBox="1"/>
          <p:nvPr/>
        </p:nvSpPr>
        <p:spPr>
          <a:xfrm>
            <a:off x="6667500" y="2298700"/>
            <a:ext cx="889000" cy="335280"/>
          </a:xfrm>
          <a:prstGeom prst="rect">
            <a:avLst/>
          </a:prstGeom>
          <a:noFill/>
        </p:spPr>
        <p:txBody>
          <a:bodyPr wrap="square" lIns="12700" tIns="12700" rIns="12700" rtlCol="0" anchor="ctr">
            <a:noAutofit/>
          </a:bodyPr>
          <a:p>
            <a:pPr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860" b="1">
                <a:solidFill>
                  <a:srgbClr val="45F0C5"/>
                </a:solidFill>
                <a:latin typeface="Aptos" charset="0"/>
                <a:ea typeface="Aptos" charset="0"/>
              </a:rPr>
              <a:t>资金方</a:t>
            </a:r>
            <a:endParaRPr lang="zh-CN" altLang="en-US" sz="860" b="1">
              <a:solidFill>
                <a:srgbClr val="45F0C5"/>
              </a:solidFill>
              <a:latin typeface="Aptos" charset="0"/>
              <a:ea typeface="Aptos" charset="0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6502400" y="2717800"/>
            <a:ext cx="1219200" cy="347980"/>
          </a:xfrm>
          <a:prstGeom prst="rect">
            <a:avLst/>
          </a:prstGeom>
          <a:noFill/>
        </p:spPr>
        <p:txBody>
          <a:bodyPr wrap="square" lIns="25400" tIns="25400" rIns="25400" rtlCol="0" anchor="ctr">
            <a:noAutofit/>
          </a:bodyPr>
          <a:p>
            <a:pPr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1">
                <a:solidFill>
                  <a:srgbClr val="F4F8FC"/>
                </a:solidFill>
                <a:latin typeface="微软雅黑" panose="020B0503020204020204" charset="-122"/>
                <a:ea typeface="微软雅黑" panose="020B0503020204020204" charset="-122"/>
              </a:rPr>
              <a:t>提交融资报价</a:t>
            </a:r>
            <a:endParaRPr lang="zh-CN" altLang="en-US" sz="1250" b="1">
              <a:solidFill>
                <a:srgbClr val="F4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9" name="直接连接符 88"/>
          <p:cNvCxnSpPr/>
          <p:nvPr/>
        </p:nvCxnSpPr>
        <p:spPr>
          <a:xfrm>
            <a:off x="6705600" y="3187700"/>
            <a:ext cx="812800" cy="635"/>
          </a:xfrm>
          <a:prstGeom prst="line">
            <a:avLst/>
          </a:prstGeom>
          <a:ln w="10160">
            <a:solidFill>
              <a:srgbClr val="45F0C5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0" name="文本框 89"/>
          <p:cNvSpPr txBox="1"/>
          <p:nvPr/>
        </p:nvSpPr>
        <p:spPr>
          <a:xfrm>
            <a:off x="6502400" y="3340100"/>
            <a:ext cx="1219200" cy="347980"/>
          </a:xfrm>
          <a:prstGeom prst="rect">
            <a:avLst/>
          </a:prstGeom>
          <a:noFill/>
        </p:spPr>
        <p:txBody>
          <a:bodyPr wrap="square" lIns="25400" tIns="25400" rIns="25400" rtlCol="0" anchor="t">
            <a:noAutofit/>
          </a:bodyPr>
          <a:p>
            <a:pPr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90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按买方授信</a:t>
            </a:r>
            <a:r>
              <a:rPr lang="en-US" altLang="zh-CN" sz="90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90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无追索报价</a:t>
            </a:r>
            <a:endParaRPr lang="zh-CN" altLang="en-US" sz="900">
              <a:solidFill>
                <a:srgbClr val="C7D7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圆角矩形 90"/>
          <p:cNvSpPr/>
          <p:nvPr/>
        </p:nvSpPr>
        <p:spPr>
          <a:xfrm>
            <a:off x="8331200" y="1841500"/>
            <a:ext cx="1422400" cy="2387600"/>
          </a:xfrm>
          <a:prstGeom prst="roundRect">
            <a:avLst/>
          </a:prstGeom>
          <a:solidFill>
            <a:srgbClr val="0D2037"/>
          </a:solidFill>
          <a:ln w="12700">
            <a:solidFill>
              <a:srgbClr val="244666">
                <a:alpha val="88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2" name="椭圆 91"/>
          <p:cNvSpPr/>
          <p:nvPr/>
        </p:nvSpPr>
        <p:spPr>
          <a:xfrm>
            <a:off x="8864600" y="1676400"/>
            <a:ext cx="355600" cy="355600"/>
          </a:xfrm>
          <a:prstGeom prst="ellipse">
            <a:avLst/>
          </a:prstGeom>
          <a:solidFill>
            <a:srgbClr val="24D5FF"/>
          </a:solidFill>
          <a:ln w="25400">
            <a:solidFill>
              <a:srgbClr val="07142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3" name="文本框 92"/>
          <p:cNvSpPr txBox="1"/>
          <p:nvPr/>
        </p:nvSpPr>
        <p:spPr>
          <a:xfrm>
            <a:off x="8864600" y="1778000"/>
            <a:ext cx="355600" cy="322580"/>
          </a:xfrm>
          <a:prstGeom prst="rect">
            <a:avLst/>
          </a:prstGeom>
          <a:noFill/>
        </p:spPr>
        <p:txBody>
          <a:bodyPr wrap="square" lIns="0" tIns="0" rIns="0" rtlCol="0" anchor="ctr">
            <a:noAutofit/>
          </a:bodyPr>
          <a:p>
            <a:pPr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750" b="1">
                <a:solidFill>
                  <a:srgbClr val="071426"/>
                </a:solidFill>
                <a:latin typeface="Aptos" charset="0"/>
                <a:cs typeface="Aptos" charset="0"/>
              </a:rPr>
              <a:t>05</a:t>
            </a:r>
            <a:endParaRPr lang="en-US" altLang="en-US" sz="750" b="1">
              <a:solidFill>
                <a:srgbClr val="071426"/>
              </a:solidFill>
              <a:latin typeface="Aptos" charset="0"/>
              <a:cs typeface="Aptos" charset="0"/>
            </a:endParaRPr>
          </a:p>
        </p:txBody>
      </p:sp>
      <p:sp>
        <p:nvSpPr>
          <p:cNvPr id="94" name="圆角矩形 93"/>
          <p:cNvSpPr/>
          <p:nvPr/>
        </p:nvSpPr>
        <p:spPr>
          <a:xfrm>
            <a:off x="8534400" y="2260600"/>
            <a:ext cx="1016000" cy="304800"/>
          </a:xfrm>
          <a:prstGeom prst="roundRect">
            <a:avLst/>
          </a:prstGeom>
          <a:solidFill>
            <a:srgbClr val="102A47"/>
          </a:solidFill>
          <a:ln w="12700">
            <a:solidFill>
              <a:srgbClr val="24D5FF">
                <a:alpha val="48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5" name="文本框 94"/>
          <p:cNvSpPr txBox="1"/>
          <p:nvPr/>
        </p:nvSpPr>
        <p:spPr>
          <a:xfrm>
            <a:off x="8597900" y="2298700"/>
            <a:ext cx="889000" cy="335280"/>
          </a:xfrm>
          <a:prstGeom prst="rect">
            <a:avLst/>
          </a:prstGeom>
          <a:noFill/>
        </p:spPr>
        <p:txBody>
          <a:bodyPr wrap="square" lIns="12700" tIns="12700" rIns="12700" rtlCol="0" anchor="ctr">
            <a:noAutofit/>
          </a:bodyPr>
          <a:p>
            <a:pPr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860" b="1">
                <a:solidFill>
                  <a:srgbClr val="24D5FF"/>
                </a:solidFill>
                <a:latin typeface="Aptos" charset="0"/>
                <a:ea typeface="Aptos" charset="0"/>
              </a:rPr>
              <a:t>供应商</a:t>
            </a:r>
            <a:endParaRPr lang="zh-CN" altLang="en-US" sz="860" b="1">
              <a:solidFill>
                <a:srgbClr val="24D5FF"/>
              </a:solidFill>
              <a:latin typeface="Aptos" charset="0"/>
              <a:ea typeface="Aptos" charset="0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8432800" y="2717800"/>
            <a:ext cx="1219200" cy="347980"/>
          </a:xfrm>
          <a:prstGeom prst="rect">
            <a:avLst/>
          </a:prstGeom>
          <a:noFill/>
        </p:spPr>
        <p:txBody>
          <a:bodyPr wrap="square" lIns="25400" tIns="25400" rIns="25400" rtlCol="0" anchor="ctr">
            <a:noAutofit/>
          </a:bodyPr>
          <a:p>
            <a:pPr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1">
                <a:solidFill>
                  <a:srgbClr val="F4F8FC"/>
                </a:solidFill>
                <a:latin typeface="微软雅黑" panose="020B0503020204020204" charset="-122"/>
                <a:ea typeface="微软雅黑" panose="020B0503020204020204" charset="-122"/>
              </a:rPr>
              <a:t>接受并放款</a:t>
            </a:r>
            <a:endParaRPr lang="zh-CN" altLang="en-US" sz="1250" b="1">
              <a:solidFill>
                <a:srgbClr val="F4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97" name="直接连接符 96"/>
          <p:cNvCxnSpPr/>
          <p:nvPr/>
        </p:nvCxnSpPr>
        <p:spPr>
          <a:xfrm>
            <a:off x="8636000" y="3187700"/>
            <a:ext cx="812800" cy="635"/>
          </a:xfrm>
          <a:prstGeom prst="line">
            <a:avLst/>
          </a:prstGeom>
          <a:ln w="10160">
            <a:solidFill>
              <a:srgbClr val="24D5F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8" name="文本框 97"/>
          <p:cNvSpPr txBox="1"/>
          <p:nvPr/>
        </p:nvSpPr>
        <p:spPr>
          <a:xfrm>
            <a:off x="8432800" y="3340100"/>
            <a:ext cx="1219200" cy="347980"/>
          </a:xfrm>
          <a:prstGeom prst="rect">
            <a:avLst/>
          </a:prstGeom>
          <a:noFill/>
        </p:spPr>
        <p:txBody>
          <a:bodyPr wrap="square" lIns="25400" tIns="25400" rIns="25400" rtlCol="0" anchor="t">
            <a:noAutofit/>
          </a:bodyPr>
          <a:p>
            <a:pPr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90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acceptOffer()
</a:t>
            </a:r>
            <a:r>
              <a:rPr lang="zh-CN" altLang="en-US" sz="90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原子放款</a:t>
            </a:r>
            <a:r>
              <a:rPr lang="en-US" altLang="zh-CN" sz="90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90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权属更新</a:t>
            </a:r>
            <a:endParaRPr lang="zh-CN" altLang="en-US" sz="900">
              <a:solidFill>
                <a:srgbClr val="C7D7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圆角矩形 98"/>
          <p:cNvSpPr/>
          <p:nvPr/>
        </p:nvSpPr>
        <p:spPr>
          <a:xfrm>
            <a:off x="10261600" y="1841500"/>
            <a:ext cx="1422400" cy="2387600"/>
          </a:xfrm>
          <a:prstGeom prst="roundRect">
            <a:avLst/>
          </a:prstGeom>
          <a:solidFill>
            <a:srgbClr val="0D2037"/>
          </a:solidFill>
          <a:ln w="12700">
            <a:solidFill>
              <a:srgbClr val="244666">
                <a:alpha val="88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0" name="椭圆 99"/>
          <p:cNvSpPr/>
          <p:nvPr/>
        </p:nvSpPr>
        <p:spPr>
          <a:xfrm>
            <a:off x="10795000" y="1676400"/>
            <a:ext cx="355600" cy="355600"/>
          </a:xfrm>
          <a:prstGeom prst="ellipse">
            <a:avLst/>
          </a:prstGeom>
          <a:solidFill>
            <a:srgbClr val="3B82F6"/>
          </a:solidFill>
          <a:ln w="25400">
            <a:solidFill>
              <a:srgbClr val="07142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1" name="文本框 100"/>
          <p:cNvSpPr txBox="1"/>
          <p:nvPr/>
        </p:nvSpPr>
        <p:spPr>
          <a:xfrm>
            <a:off x="10795000" y="1778000"/>
            <a:ext cx="355600" cy="322580"/>
          </a:xfrm>
          <a:prstGeom prst="rect">
            <a:avLst/>
          </a:prstGeom>
          <a:noFill/>
        </p:spPr>
        <p:txBody>
          <a:bodyPr wrap="square" lIns="0" tIns="0" rIns="0" rtlCol="0" anchor="ctr">
            <a:noAutofit/>
          </a:bodyPr>
          <a:p>
            <a:pPr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750" b="1">
                <a:solidFill>
                  <a:srgbClr val="071426"/>
                </a:solidFill>
                <a:latin typeface="Aptos" charset="0"/>
                <a:cs typeface="Aptos" charset="0"/>
              </a:rPr>
              <a:t>06</a:t>
            </a:r>
            <a:endParaRPr lang="en-US" altLang="en-US" sz="750" b="1">
              <a:solidFill>
                <a:srgbClr val="071426"/>
              </a:solidFill>
              <a:latin typeface="Aptos" charset="0"/>
              <a:cs typeface="Aptos" charset="0"/>
            </a:endParaRPr>
          </a:p>
        </p:txBody>
      </p:sp>
      <p:sp>
        <p:nvSpPr>
          <p:cNvPr id="102" name="圆角矩形 101"/>
          <p:cNvSpPr/>
          <p:nvPr/>
        </p:nvSpPr>
        <p:spPr>
          <a:xfrm>
            <a:off x="10464800" y="2260600"/>
            <a:ext cx="1016000" cy="304800"/>
          </a:xfrm>
          <a:prstGeom prst="roundRect">
            <a:avLst/>
          </a:prstGeom>
          <a:solidFill>
            <a:srgbClr val="102A47"/>
          </a:solidFill>
          <a:ln w="12700">
            <a:solidFill>
              <a:srgbClr val="3B82F6">
                <a:alpha val="48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3" name="文本框 102"/>
          <p:cNvSpPr txBox="1"/>
          <p:nvPr/>
        </p:nvSpPr>
        <p:spPr>
          <a:xfrm>
            <a:off x="10528300" y="2298700"/>
            <a:ext cx="889000" cy="335280"/>
          </a:xfrm>
          <a:prstGeom prst="rect">
            <a:avLst/>
          </a:prstGeom>
          <a:noFill/>
        </p:spPr>
        <p:txBody>
          <a:bodyPr wrap="square" lIns="12700" tIns="12700" rIns="12700" rtlCol="0" anchor="ctr">
            <a:noAutofit/>
          </a:bodyPr>
          <a:p>
            <a:pPr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860" b="1">
                <a:solidFill>
                  <a:srgbClr val="3B82F6"/>
                </a:solidFill>
                <a:latin typeface="Aptos" charset="0"/>
                <a:ea typeface="Aptos" charset="0"/>
              </a:rPr>
              <a:t>结算合约</a:t>
            </a:r>
            <a:endParaRPr lang="zh-CN" altLang="en-US" sz="860" b="1">
              <a:solidFill>
                <a:srgbClr val="3B82F6"/>
              </a:solidFill>
              <a:latin typeface="Aptos" charset="0"/>
              <a:ea typeface="Aptos" charset="0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10363200" y="2717800"/>
            <a:ext cx="1219200" cy="347980"/>
          </a:xfrm>
          <a:prstGeom prst="rect">
            <a:avLst/>
          </a:prstGeom>
          <a:noFill/>
        </p:spPr>
        <p:txBody>
          <a:bodyPr wrap="square" lIns="25400" tIns="25400" rIns="25400" rtlCol="0" anchor="ctr">
            <a:noAutofit/>
          </a:bodyPr>
          <a:p>
            <a:pPr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1">
                <a:solidFill>
                  <a:srgbClr val="F4F8FC"/>
                </a:solidFill>
                <a:latin typeface="微软雅黑" panose="020B0503020204020204" charset="-122"/>
                <a:ea typeface="微软雅黑" panose="020B0503020204020204" charset="-122"/>
              </a:rPr>
              <a:t>到期分账</a:t>
            </a:r>
            <a:endParaRPr lang="zh-CN" altLang="en-US" sz="1250" b="1">
              <a:solidFill>
                <a:srgbClr val="F4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5" name="直接连接符 104"/>
          <p:cNvCxnSpPr/>
          <p:nvPr/>
        </p:nvCxnSpPr>
        <p:spPr>
          <a:xfrm>
            <a:off x="10566400" y="3187700"/>
            <a:ext cx="812800" cy="635"/>
          </a:xfrm>
          <a:prstGeom prst="line">
            <a:avLst/>
          </a:prstGeom>
          <a:ln w="1016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6" name="文本框 105"/>
          <p:cNvSpPr txBox="1"/>
          <p:nvPr/>
        </p:nvSpPr>
        <p:spPr>
          <a:xfrm>
            <a:off x="10363200" y="3340100"/>
            <a:ext cx="1219200" cy="347980"/>
          </a:xfrm>
          <a:prstGeom prst="rect">
            <a:avLst/>
          </a:prstGeom>
          <a:noFill/>
        </p:spPr>
        <p:txBody>
          <a:bodyPr wrap="square" lIns="25400" tIns="25400" rIns="25400" rtlCol="0" anchor="t">
            <a:noAutofit/>
          </a:bodyPr>
          <a:p>
            <a:pPr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90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受限</a:t>
            </a:r>
            <a:r>
              <a:rPr lang="en-US" altLang="zh-CN" sz="90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Relayer
→ claim()</a:t>
            </a:r>
            <a:endParaRPr lang="en-US" altLang="zh-CN" sz="900">
              <a:solidFill>
                <a:srgbClr val="C7D7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" name="圆角矩形 106"/>
          <p:cNvSpPr/>
          <p:nvPr/>
        </p:nvSpPr>
        <p:spPr>
          <a:xfrm>
            <a:off x="609600" y="4445000"/>
            <a:ext cx="10972800" cy="1473200"/>
          </a:xfrm>
          <a:prstGeom prst="roundRect">
            <a:avLst/>
          </a:prstGeom>
          <a:solidFill>
            <a:srgbClr val="102A47"/>
          </a:solidFill>
          <a:ln w="12700">
            <a:solidFill>
              <a:srgbClr val="244666">
                <a:alpha val="88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8" name="矩形 107"/>
          <p:cNvSpPr/>
          <p:nvPr/>
        </p:nvSpPr>
        <p:spPr>
          <a:xfrm>
            <a:off x="609600" y="4445000"/>
            <a:ext cx="76200" cy="1473200"/>
          </a:xfrm>
          <a:prstGeom prst="rect">
            <a:avLst/>
          </a:prstGeom>
          <a:solidFill>
            <a:srgbClr val="24D5FF"/>
          </a:solidFill>
          <a:ln w="12700">
            <a:solidFill>
              <a:srgbClr val="24D5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9" name="文本框 108"/>
          <p:cNvSpPr txBox="1"/>
          <p:nvPr/>
        </p:nvSpPr>
        <p:spPr>
          <a:xfrm>
            <a:off x="889000" y="4635500"/>
            <a:ext cx="1905000" cy="360680"/>
          </a:xfrm>
          <a:prstGeom prst="rect">
            <a:avLst/>
          </a:prstGeom>
          <a:noFill/>
        </p:spPr>
        <p:txBody>
          <a:bodyPr wrap="square" lIns="38100" tIns="38100" rIns="38100" rtlCol="0" anchor="t">
            <a:noAutofit/>
          </a:bodyPr>
          <a:p>
            <a:pPr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>
                <a:solidFill>
                  <a:srgbClr val="F4F8FC"/>
                </a:solidFill>
                <a:latin typeface="微软雅黑" panose="020B0503020204020204" charset="-122"/>
                <a:ea typeface="微软雅黑" panose="020B0503020204020204" charset="-122"/>
              </a:rPr>
              <a:t>模式核心</a:t>
            </a:r>
            <a:endParaRPr lang="zh-CN" altLang="en-US" sz="1500" b="1">
              <a:solidFill>
                <a:srgbClr val="F4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889000" y="5067300"/>
            <a:ext cx="825500" cy="335280"/>
          </a:xfrm>
          <a:prstGeom prst="rect">
            <a:avLst/>
          </a:prstGeom>
          <a:noFill/>
        </p:spPr>
        <p:txBody>
          <a:bodyPr wrap="square" lIns="12700" tIns="12700" rIns="12700" rtlCol="0" anchor="t">
            <a:noAutofit/>
          </a:bodyPr>
          <a:p>
            <a:pPr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820" b="1">
                <a:solidFill>
                  <a:srgbClr val="FFCB66"/>
                </a:solidFill>
                <a:latin typeface="微软雅黑" panose="020B0503020204020204" charset="-122"/>
                <a:ea typeface="微软雅黑" panose="020B0503020204020204" charset="-122"/>
              </a:rPr>
              <a:t>买方资金</a:t>
            </a:r>
            <a:endParaRPr lang="zh-CN" altLang="en-US" sz="820" b="1">
              <a:solidFill>
                <a:srgbClr val="FFCB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" name="文本框 110"/>
          <p:cNvSpPr txBox="1"/>
          <p:nvPr/>
        </p:nvSpPr>
        <p:spPr>
          <a:xfrm>
            <a:off x="1778000" y="5041900"/>
            <a:ext cx="3619500" cy="360680"/>
          </a:xfrm>
          <a:prstGeom prst="rect">
            <a:avLst/>
          </a:prstGeom>
          <a:noFill/>
        </p:spPr>
        <p:txBody>
          <a:bodyPr wrap="square" lIns="38100" tIns="38100" rIns="38100" rtlCol="0" anchor="t">
            <a:noAutofit/>
          </a:bodyPr>
          <a:p>
            <a:pPr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92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确权时不锁款</a:t>
            </a:r>
            <a:r>
              <a:rPr lang="en-US" altLang="zh-CN" sz="92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92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到期前检查余额与授权</a:t>
            </a:r>
            <a:endParaRPr lang="zh-CN" altLang="en-US" sz="920">
              <a:solidFill>
                <a:srgbClr val="C7D7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889000" y="5410200"/>
            <a:ext cx="952500" cy="335280"/>
          </a:xfrm>
          <a:prstGeom prst="rect">
            <a:avLst/>
          </a:prstGeom>
          <a:noFill/>
        </p:spPr>
        <p:txBody>
          <a:bodyPr wrap="square" lIns="12700" tIns="12700" rIns="12700" rtlCol="0" anchor="t">
            <a:noAutofit/>
          </a:bodyPr>
          <a:p>
            <a:pPr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820" b="1">
                <a:solidFill>
                  <a:srgbClr val="45F0C5"/>
                </a:solidFill>
                <a:latin typeface="微软雅黑" panose="020B0503020204020204" charset="-122"/>
                <a:ea typeface="微软雅黑" panose="020B0503020204020204" charset="-122"/>
              </a:rPr>
              <a:t>资金方本金</a:t>
            </a:r>
            <a:endParaRPr lang="zh-CN" altLang="en-US" sz="820" b="1">
              <a:solidFill>
                <a:srgbClr val="45F0C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1778000" y="5384800"/>
            <a:ext cx="3619500" cy="360680"/>
          </a:xfrm>
          <a:prstGeom prst="rect">
            <a:avLst/>
          </a:prstGeom>
          <a:noFill/>
        </p:spPr>
        <p:txBody>
          <a:bodyPr wrap="square" lIns="38100" tIns="38100" rIns="38100" rtlCol="0" anchor="t">
            <a:noAutofit/>
          </a:bodyPr>
          <a:p>
            <a:pPr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92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报价后托管在合约</a:t>
            </a:r>
            <a:r>
              <a:rPr lang="en-US" altLang="zh-CN" sz="92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92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接受后原子放款</a:t>
            </a:r>
            <a:endParaRPr lang="zh-CN" altLang="en-US" sz="920">
              <a:solidFill>
                <a:srgbClr val="C7D7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14" name="直接连接符 113"/>
          <p:cNvCxnSpPr/>
          <p:nvPr/>
        </p:nvCxnSpPr>
        <p:spPr>
          <a:xfrm>
            <a:off x="5740400" y="4635500"/>
            <a:ext cx="635" cy="1092200"/>
          </a:xfrm>
          <a:prstGeom prst="line">
            <a:avLst/>
          </a:prstGeom>
          <a:ln w="10160">
            <a:solidFill>
              <a:srgbClr val="24466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5" name="文本框 114"/>
          <p:cNvSpPr txBox="1"/>
          <p:nvPr/>
        </p:nvSpPr>
        <p:spPr>
          <a:xfrm>
            <a:off x="6070600" y="4635500"/>
            <a:ext cx="2159000" cy="360680"/>
          </a:xfrm>
          <a:prstGeom prst="rect">
            <a:avLst/>
          </a:prstGeom>
          <a:noFill/>
        </p:spPr>
        <p:txBody>
          <a:bodyPr wrap="square" lIns="38100" tIns="38100" rIns="38100" rtlCol="0" anchor="t">
            <a:noAutofit/>
          </a:bodyPr>
          <a:p>
            <a:pPr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500" b="1">
                <a:solidFill>
                  <a:srgbClr val="F4F8FC"/>
                </a:solidFill>
                <a:latin typeface="微软雅黑" panose="020B0503020204020204" charset="-122"/>
                <a:ea typeface="微软雅黑" panose="020B0503020204020204" charset="-122"/>
              </a:rPr>
              <a:t>到期结算条件</a:t>
            </a:r>
            <a:endParaRPr lang="zh-CN" altLang="en-US" sz="1500" b="1">
              <a:solidFill>
                <a:srgbClr val="F4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" name="圆角矩形 115"/>
          <p:cNvSpPr/>
          <p:nvPr/>
        </p:nvSpPr>
        <p:spPr>
          <a:xfrm>
            <a:off x="6070600" y="5041900"/>
            <a:ext cx="1092200" cy="304800"/>
          </a:xfrm>
          <a:prstGeom prst="roundRect">
            <a:avLst/>
          </a:prstGeom>
          <a:solidFill>
            <a:srgbClr val="102A47"/>
          </a:solidFill>
          <a:ln w="12700">
            <a:solidFill>
              <a:srgbClr val="FFCB66">
                <a:alpha val="48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7" name="文本框 116"/>
          <p:cNvSpPr txBox="1"/>
          <p:nvPr/>
        </p:nvSpPr>
        <p:spPr>
          <a:xfrm>
            <a:off x="6134100" y="5080000"/>
            <a:ext cx="965200" cy="335280"/>
          </a:xfrm>
          <a:prstGeom prst="rect">
            <a:avLst/>
          </a:prstGeom>
          <a:noFill/>
        </p:spPr>
        <p:txBody>
          <a:bodyPr wrap="square" lIns="12700" tIns="12700" rIns="12700" rtlCol="0" anchor="ctr">
            <a:noAutofit/>
          </a:bodyPr>
          <a:p>
            <a:pPr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860" b="1">
                <a:solidFill>
                  <a:srgbClr val="FFCB66"/>
                </a:solidFill>
                <a:latin typeface="Aptos" charset="0"/>
                <a:ea typeface="Aptos" charset="0"/>
              </a:rPr>
              <a:t>授权有效</a:t>
            </a:r>
            <a:endParaRPr lang="zh-CN" altLang="en-US" sz="860" b="1">
              <a:solidFill>
                <a:srgbClr val="FFCB66"/>
              </a:solidFill>
              <a:latin typeface="Aptos" charset="0"/>
              <a:ea typeface="Aptos" charset="0"/>
            </a:endParaRPr>
          </a:p>
        </p:txBody>
      </p:sp>
      <p:sp>
        <p:nvSpPr>
          <p:cNvPr id="118" name="圆角矩形 117"/>
          <p:cNvSpPr/>
          <p:nvPr/>
        </p:nvSpPr>
        <p:spPr>
          <a:xfrm>
            <a:off x="7264400" y="5041900"/>
            <a:ext cx="1092200" cy="304800"/>
          </a:xfrm>
          <a:prstGeom prst="roundRect">
            <a:avLst/>
          </a:prstGeom>
          <a:solidFill>
            <a:srgbClr val="102A47"/>
          </a:solidFill>
          <a:ln w="12700">
            <a:solidFill>
              <a:srgbClr val="45F0C5">
                <a:alpha val="48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9" name="文本框 118"/>
          <p:cNvSpPr txBox="1"/>
          <p:nvPr/>
        </p:nvSpPr>
        <p:spPr>
          <a:xfrm>
            <a:off x="7327900" y="5080000"/>
            <a:ext cx="965200" cy="335280"/>
          </a:xfrm>
          <a:prstGeom prst="rect">
            <a:avLst/>
          </a:prstGeom>
          <a:noFill/>
        </p:spPr>
        <p:txBody>
          <a:bodyPr wrap="square" lIns="12700" tIns="12700" rIns="12700" rtlCol="0" anchor="ctr">
            <a:noAutofit/>
          </a:bodyPr>
          <a:p>
            <a:pPr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860" b="1">
                <a:solidFill>
                  <a:srgbClr val="45F0C5"/>
                </a:solidFill>
                <a:latin typeface="Aptos" charset="0"/>
                <a:ea typeface="Aptos" charset="0"/>
              </a:rPr>
              <a:t>余额充足</a:t>
            </a:r>
            <a:endParaRPr lang="zh-CN" altLang="en-US" sz="860" b="1">
              <a:solidFill>
                <a:srgbClr val="45F0C5"/>
              </a:solidFill>
              <a:latin typeface="Aptos" charset="0"/>
              <a:ea typeface="Aptos" charset="0"/>
            </a:endParaRPr>
          </a:p>
        </p:txBody>
      </p:sp>
      <p:sp>
        <p:nvSpPr>
          <p:cNvPr id="120" name="圆角矩形 119"/>
          <p:cNvSpPr/>
          <p:nvPr/>
        </p:nvSpPr>
        <p:spPr>
          <a:xfrm>
            <a:off x="8458200" y="5041900"/>
            <a:ext cx="1219200" cy="304800"/>
          </a:xfrm>
          <a:prstGeom prst="roundRect">
            <a:avLst/>
          </a:prstGeom>
          <a:solidFill>
            <a:srgbClr val="102A47"/>
          </a:solidFill>
          <a:ln w="12700">
            <a:solidFill>
              <a:srgbClr val="24D5FF">
                <a:alpha val="48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1" name="文本框 120"/>
          <p:cNvSpPr txBox="1"/>
          <p:nvPr/>
        </p:nvSpPr>
        <p:spPr>
          <a:xfrm>
            <a:off x="8521700" y="5080000"/>
            <a:ext cx="1092200" cy="335280"/>
          </a:xfrm>
          <a:prstGeom prst="rect">
            <a:avLst/>
          </a:prstGeom>
          <a:noFill/>
        </p:spPr>
        <p:txBody>
          <a:bodyPr wrap="square" lIns="12700" tIns="12700" rIns="12700" rtlCol="0" anchor="ctr">
            <a:noAutofit/>
          </a:bodyPr>
          <a:p>
            <a:pPr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860" b="1">
                <a:solidFill>
                  <a:srgbClr val="24D5FF"/>
                </a:solidFill>
                <a:latin typeface="Aptos" charset="0"/>
                <a:ea typeface="Aptos" charset="0"/>
              </a:rPr>
              <a:t>当前权利人</a:t>
            </a:r>
            <a:endParaRPr lang="zh-CN" altLang="en-US" sz="860" b="1">
              <a:solidFill>
                <a:srgbClr val="24D5FF"/>
              </a:solidFill>
              <a:latin typeface="Aptos" charset="0"/>
              <a:ea typeface="Aptos" charset="0"/>
            </a:endParaRPr>
          </a:p>
        </p:txBody>
      </p:sp>
      <p:sp>
        <p:nvSpPr>
          <p:cNvPr id="122" name="文本框 121"/>
          <p:cNvSpPr txBox="1"/>
          <p:nvPr/>
        </p:nvSpPr>
        <p:spPr>
          <a:xfrm>
            <a:off x="6070600" y="5435600"/>
            <a:ext cx="4953000" cy="360680"/>
          </a:xfrm>
          <a:prstGeom prst="rect">
            <a:avLst/>
          </a:prstGeom>
          <a:noFill/>
        </p:spPr>
        <p:txBody>
          <a:bodyPr wrap="square" lIns="38100" tIns="38100" rIns="38100" rtlCol="0" anchor="t">
            <a:noAutofit/>
          </a:bodyPr>
          <a:p>
            <a:pPr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92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</a:t>
            </a:r>
            <a:r>
              <a:rPr lang="zh-CN" altLang="en-US" sz="92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结算合约收款</a:t>
            </a:r>
            <a:r>
              <a:rPr lang="en-US" altLang="zh-CN" sz="92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92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按最新权属分账</a:t>
            </a:r>
            <a:endParaRPr lang="zh-CN" altLang="en-US" sz="920">
              <a:solidFill>
                <a:srgbClr val="C7D7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6070600" y="5689600"/>
            <a:ext cx="4953000" cy="360680"/>
          </a:xfrm>
          <a:prstGeom prst="rect">
            <a:avLst/>
          </a:prstGeom>
          <a:noFill/>
        </p:spPr>
        <p:txBody>
          <a:bodyPr wrap="square" lIns="38100" tIns="38100" rIns="38100" rtlCol="0" anchor="t">
            <a:noAutofit/>
          </a:bodyPr>
          <a:p>
            <a:pPr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920" b="1">
                <a:solidFill>
                  <a:srgbClr val="FFCB66"/>
                </a:solidFill>
                <a:latin typeface="微软雅黑" panose="020B0503020204020204" charset="-122"/>
                <a:ea typeface="微软雅黑" panose="020B0503020204020204" charset="-122"/>
              </a:rPr>
              <a:t>无追索：普通买方信用风险由资金方承担</a:t>
            </a:r>
            <a:endParaRPr lang="zh-CN" altLang="en-US" sz="920" b="1">
              <a:solidFill>
                <a:srgbClr val="FFCB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4" name="文本框 123"/>
          <p:cNvSpPr txBox="1"/>
          <p:nvPr/>
        </p:nvSpPr>
        <p:spPr>
          <a:xfrm>
            <a:off x="609600" y="6108700"/>
            <a:ext cx="10972800" cy="360680"/>
          </a:xfrm>
          <a:prstGeom prst="rect">
            <a:avLst/>
          </a:prstGeom>
          <a:noFill/>
        </p:spPr>
        <p:txBody>
          <a:bodyPr wrap="square" lIns="38100" tIns="38100" rIns="38100" rtlCol="0" anchor="t">
            <a:noAutofit/>
          </a:bodyPr>
          <a:p>
            <a:pPr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880" b="1">
                <a:solidFill>
                  <a:srgbClr val="24D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</a:t>
            </a:r>
            <a:r>
              <a:rPr lang="en-US" altLang="zh-CN" sz="880" b="1">
                <a:solidFill>
                  <a:srgbClr val="24D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 · </a:t>
            </a:r>
            <a:r>
              <a:rPr lang="zh-CN" altLang="en-US" sz="880" b="1">
                <a:solidFill>
                  <a:srgbClr val="24D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许可式</a:t>
            </a:r>
            <a:r>
              <a:rPr lang="en-US" altLang="zh-CN" sz="880" b="1">
                <a:solidFill>
                  <a:srgbClr val="24D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MVP · </a:t>
            </a:r>
            <a:r>
              <a:rPr lang="zh-CN" altLang="en-US" sz="880" b="1">
                <a:solidFill>
                  <a:srgbClr val="24D5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数字凭证不等同于法定票据或还款保证</a:t>
            </a:r>
            <a:endParaRPr lang="zh-CN" altLang="en-US" sz="880" b="1">
              <a:solidFill>
                <a:srgbClr val="24D5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426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71426"/>
                </a:solid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4D5FF"/>
          </a:solidFill>
          <a:ln w="12700">
            <a:solidFill>
              <a:srgbClr val="24D5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6096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10668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15240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19812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24384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28956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33528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8100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2672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7244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1816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56388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60960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65532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70104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74676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79248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83820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88392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92964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97536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102108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106680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111252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11582400" y="381000"/>
            <a:ext cx="635" cy="5969000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381000" y="431800"/>
            <a:ext cx="11430000" cy="635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381000" y="889000"/>
            <a:ext cx="11430000" cy="635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381000" y="1346200"/>
            <a:ext cx="11430000" cy="635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381000" y="1803400"/>
            <a:ext cx="11430000" cy="635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381000" y="2260600"/>
            <a:ext cx="11430000" cy="635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381000" y="2717800"/>
            <a:ext cx="11430000" cy="635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381000" y="3175000"/>
            <a:ext cx="11430000" cy="635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381000" y="3632200"/>
            <a:ext cx="11430000" cy="635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381000" y="4089400"/>
            <a:ext cx="11430000" cy="635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381000" y="4546600"/>
            <a:ext cx="11430000" cy="635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381000" y="5003800"/>
            <a:ext cx="11430000" cy="635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381000" y="5461000"/>
            <a:ext cx="11430000" cy="635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381000" y="5918200"/>
            <a:ext cx="11430000" cy="635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381000" y="6375400"/>
            <a:ext cx="11430000" cy="635"/>
          </a:xfrm>
          <a:prstGeom prst="line">
            <a:avLst/>
          </a:prstGeom>
          <a:ln w="4445">
            <a:solidFill>
              <a:srgbClr val="0C2741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" name="矩形 42"/>
          <p:cNvSpPr/>
          <p:nvPr/>
        </p:nvSpPr>
        <p:spPr>
          <a:xfrm>
            <a:off x="0" y="50800"/>
            <a:ext cx="12192000" cy="6413500"/>
          </a:xfrm>
          <a:prstGeom prst="rect">
            <a:avLst/>
          </a:prstGeom>
          <a:solidFill>
            <a:srgbClr val="071426">
              <a:alpha val="90000"/>
            </a:srgbClr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71426"/>
                </a:solid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椭圆 43"/>
          <p:cNvSpPr/>
          <p:nvPr/>
        </p:nvSpPr>
        <p:spPr>
          <a:xfrm>
            <a:off x="9804400" y="-1676400"/>
            <a:ext cx="4089400" cy="4089400"/>
          </a:xfrm>
          <a:prstGeom prst="ellipse">
            <a:avLst/>
          </a:prstGeom>
          <a:solidFill>
            <a:srgbClr val="3B82F6">
              <a:alpha val="9000"/>
            </a:srgbClr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椭圆 44"/>
          <p:cNvSpPr/>
          <p:nvPr/>
        </p:nvSpPr>
        <p:spPr>
          <a:xfrm>
            <a:off x="-1498600" y="5194300"/>
            <a:ext cx="2997200" cy="2997200"/>
          </a:xfrm>
          <a:prstGeom prst="ellipse">
            <a:avLst/>
          </a:prstGeom>
          <a:solidFill>
            <a:srgbClr val="24D5FF">
              <a:alpha val="6000"/>
            </a:srgbClr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6" name="直接连接符 45"/>
          <p:cNvCxnSpPr/>
          <p:nvPr/>
        </p:nvCxnSpPr>
        <p:spPr>
          <a:xfrm>
            <a:off x="609600" y="6502400"/>
            <a:ext cx="10972800" cy="635"/>
          </a:xfrm>
          <a:prstGeom prst="line">
            <a:avLst/>
          </a:prstGeom>
          <a:ln w="9525">
            <a:solidFill>
              <a:srgbClr val="24466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>
            <a:off x="609600" y="6578600"/>
            <a:ext cx="1587500" cy="322580"/>
          </a:xfrm>
          <a:prstGeom prst="rect">
            <a:avLst/>
          </a:prstGeom>
          <a:noFill/>
        </p:spPr>
        <p:txBody>
          <a:bodyPr wrap="square" lIns="0" tIns="0" rIns="0" rtlCol="0" anchor="ctr">
            <a:noAutofit/>
          </a:bodyPr>
          <a:p>
            <a:pPr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750" b="1">
                <a:solidFill>
                  <a:srgbClr val="7894AF"/>
                </a:solidFill>
                <a:latin typeface="Aptos" charset="0"/>
                <a:cs typeface="Aptos" charset="0"/>
              </a:rPr>
              <a:t>SUPPLYCHAINX402</a:t>
            </a:r>
            <a:endParaRPr lang="en-US" altLang="en-US" sz="750" b="1">
              <a:solidFill>
                <a:srgbClr val="7894AF"/>
              </a:solidFill>
              <a:latin typeface="Aptos" charset="0"/>
              <a:cs typeface="Aptos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9448800" y="6578600"/>
            <a:ext cx="1879600" cy="322580"/>
          </a:xfrm>
          <a:prstGeom prst="rect">
            <a:avLst/>
          </a:prstGeom>
          <a:noFill/>
        </p:spPr>
        <p:txBody>
          <a:bodyPr wrap="square" lIns="0" tIns="0" rIns="0" rtlCol="0" anchor="ctr">
            <a:noAutofit/>
          </a:bodyPr>
          <a:p>
            <a:pPr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750" b="1">
                <a:solidFill>
                  <a:srgbClr val="7894AF"/>
                </a:solidFill>
                <a:latin typeface="Aptos" charset="0"/>
                <a:cs typeface="Aptos" charset="0"/>
              </a:rPr>
              <a:t>ATTESTFLOW · CC3 MVP</a:t>
            </a:r>
            <a:endParaRPr lang="en-US" altLang="en-US" sz="750" b="1">
              <a:solidFill>
                <a:srgbClr val="7894AF"/>
              </a:solidFill>
              <a:latin typeface="Aptos" charset="0"/>
              <a:cs typeface="Aptos" charset="0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11493500" y="6578600"/>
            <a:ext cx="152400" cy="322580"/>
          </a:xfrm>
          <a:prstGeom prst="rect">
            <a:avLst/>
          </a:prstGeom>
          <a:noFill/>
        </p:spPr>
        <p:txBody>
          <a:bodyPr wrap="square" lIns="0" tIns="0" rIns="0" rtlCol="0" anchor="ctr">
            <a:noAutofit/>
          </a:bodyPr>
          <a:p>
            <a:pPr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750">
                <a:solidFill>
                  <a:srgbClr val="7894AF"/>
                </a:solidFill>
                <a:latin typeface="Aptos" charset="0"/>
                <a:cs typeface="Aptos" charset="0"/>
              </a:rPr>
              <a:t>2</a:t>
            </a:r>
            <a:endParaRPr lang="en-US" altLang="en-US" sz="750">
              <a:solidFill>
                <a:srgbClr val="7894AF"/>
              </a:solidFill>
              <a:latin typeface="Aptos" charset="0"/>
              <a:cs typeface="Aptos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622300" y="355600"/>
            <a:ext cx="4318000" cy="360680"/>
          </a:xfrm>
          <a:prstGeom prst="rect">
            <a:avLst/>
          </a:prstGeom>
          <a:noFill/>
        </p:spPr>
        <p:txBody>
          <a:bodyPr wrap="square" lIns="38100" tIns="38100" rIns="38100" rtlCol="0" anchor="t">
            <a:noAutofit/>
          </a:bodyPr>
          <a:p>
            <a:pPr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850" b="1" spc="150">
                <a:solidFill>
                  <a:srgbClr val="24D5FF"/>
                </a:solidFill>
                <a:latin typeface="Aptos" charset="0"/>
                <a:cs typeface="Aptos" charset="0"/>
              </a:rPr>
              <a:t>02  /  </a:t>
            </a:r>
            <a:r>
              <a:rPr lang="zh-CN" altLang="en-US" sz="850" b="1" spc="150">
                <a:solidFill>
                  <a:srgbClr val="24D5FF"/>
                </a:solidFill>
                <a:latin typeface="Aptos" charset="0"/>
                <a:cs typeface="Aptos" charset="0"/>
              </a:rPr>
              <a:t>本项目亮点</a:t>
            </a:r>
            <a:endParaRPr lang="zh-CN" altLang="en-US" sz="850" b="1" spc="150">
              <a:solidFill>
                <a:srgbClr val="24D5FF"/>
              </a:solidFill>
              <a:latin typeface="Aptos" charset="0"/>
              <a:cs typeface="Aptos" charset="0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609600" y="660400"/>
            <a:ext cx="10972800" cy="360680"/>
          </a:xfrm>
          <a:prstGeom prst="rect">
            <a:avLst/>
          </a:prstGeom>
          <a:noFill/>
        </p:spPr>
        <p:txBody>
          <a:bodyPr wrap="square" lIns="38100" tIns="38100" rIns="38100" rtlCol="0" anchor="t">
            <a:noAutofit/>
          </a:bodyPr>
          <a:p>
            <a:pPr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350" b="1">
                <a:solidFill>
                  <a:srgbClr val="F4F8FC"/>
                </a:solidFill>
                <a:latin typeface="微软雅黑" panose="020B0503020204020204" charset="-122"/>
                <a:ea typeface="微软雅黑" panose="020B0503020204020204" charset="-122"/>
              </a:rPr>
              <a:t>把确权、融资、审计与兑付做成可验证闭环</a:t>
            </a:r>
            <a:endParaRPr lang="zh-CN" altLang="en-US" sz="2350" b="1">
              <a:solidFill>
                <a:srgbClr val="F4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622300" y="1282700"/>
            <a:ext cx="10795000" cy="360680"/>
          </a:xfrm>
          <a:prstGeom prst="rect">
            <a:avLst/>
          </a:prstGeom>
          <a:noFill/>
        </p:spPr>
        <p:txBody>
          <a:bodyPr wrap="square" lIns="38100" tIns="38100" rIns="38100" rtlCol="0" anchor="t">
            <a:noAutofit/>
          </a:bodyPr>
          <a:p>
            <a:pPr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05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Creditcoin CC3 </a:t>
            </a:r>
            <a:r>
              <a:rPr lang="zh-CN" altLang="en-US" sz="105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测试网封闭式</a:t>
            </a:r>
            <a:r>
              <a:rPr lang="en-US" altLang="zh-CN" sz="105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MVP · </a:t>
            </a:r>
            <a:r>
              <a:rPr lang="zh-CN" altLang="en-US" sz="105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链上状态驱动</a:t>
            </a:r>
            <a:r>
              <a:rPr lang="en-US" altLang="zh-CN" sz="105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05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异步证明不阻塞核心流程。</a:t>
            </a:r>
            <a:endParaRPr lang="zh-CN" altLang="en-US" sz="1050">
              <a:solidFill>
                <a:srgbClr val="C7D7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圆角矩形 52"/>
          <p:cNvSpPr/>
          <p:nvPr/>
        </p:nvSpPr>
        <p:spPr>
          <a:xfrm>
            <a:off x="609600" y="1816100"/>
            <a:ext cx="2768600" cy="1676400"/>
          </a:xfrm>
          <a:prstGeom prst="roundRect">
            <a:avLst/>
          </a:prstGeom>
          <a:solidFill>
            <a:srgbClr val="0D2037"/>
          </a:solidFill>
          <a:ln w="12700">
            <a:solidFill>
              <a:srgbClr val="244666">
                <a:alpha val="88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/>
        </p:nvSpPr>
        <p:spPr>
          <a:xfrm>
            <a:off x="787400" y="1993900"/>
            <a:ext cx="431800" cy="322580"/>
          </a:xfrm>
          <a:prstGeom prst="rect">
            <a:avLst/>
          </a:prstGeom>
          <a:noFill/>
        </p:spPr>
        <p:txBody>
          <a:bodyPr wrap="square" lIns="0" tIns="0" rIns="0" rtlCol="0" anchor="ctr">
            <a:noAutofit/>
          </a:bodyPr>
          <a:p>
            <a:pPr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700" b="1">
                <a:solidFill>
                  <a:srgbClr val="24D5FF"/>
                </a:solidFill>
                <a:latin typeface="Aptos Display" charset="0"/>
                <a:cs typeface="Aptos Display" charset="0"/>
              </a:rPr>
              <a:t>01</a:t>
            </a:r>
            <a:endParaRPr lang="en-US" altLang="en-US" sz="1700" b="1">
              <a:solidFill>
                <a:srgbClr val="24D5FF"/>
              </a:solidFill>
              <a:latin typeface="Aptos Display" charset="0"/>
              <a:cs typeface="Aptos Display" charset="0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1308100" y="2044700"/>
            <a:ext cx="1879600" cy="335280"/>
          </a:xfrm>
          <a:prstGeom prst="rect">
            <a:avLst/>
          </a:prstGeom>
          <a:noFill/>
        </p:spPr>
        <p:txBody>
          <a:bodyPr wrap="square" lIns="12700" tIns="12700" rIns="12700" rtlCol="0" anchor="ctr">
            <a:noAutofit/>
          </a:bodyPr>
          <a:p>
            <a:pPr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750" b="1" spc="70">
                <a:solidFill>
                  <a:srgbClr val="7894AF"/>
                </a:solidFill>
                <a:latin typeface="Aptos" charset="0"/>
                <a:cs typeface="Aptos" charset="0"/>
              </a:rPr>
              <a:t>DATA READY</a:t>
            </a:r>
            <a:endParaRPr lang="en-US" altLang="en-US" sz="750" b="1" spc="70">
              <a:solidFill>
                <a:srgbClr val="7894AF"/>
              </a:solidFill>
              <a:latin typeface="Aptos" charset="0"/>
              <a:cs typeface="Aptos" charset="0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787400" y="2425700"/>
            <a:ext cx="2413000" cy="347980"/>
          </a:xfrm>
          <a:prstGeom prst="rect">
            <a:avLst/>
          </a:prstGeom>
          <a:noFill/>
        </p:spPr>
        <p:txBody>
          <a:bodyPr wrap="square" lIns="25400" tIns="25400" rIns="25400" rtlCol="0" anchor="t">
            <a:noAutofit/>
          </a:bodyPr>
          <a:p>
            <a:pPr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320" b="1">
                <a:solidFill>
                  <a:srgbClr val="F4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altLang="en-US" sz="1320" b="1">
                <a:solidFill>
                  <a:srgbClr val="F4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辅助字段提取</a:t>
            </a:r>
            <a:endParaRPr lang="zh-CN" altLang="en-US" sz="1320" b="1">
              <a:solidFill>
                <a:srgbClr val="F4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787400" y="2832100"/>
            <a:ext cx="2413000" cy="347980"/>
          </a:xfrm>
          <a:prstGeom prst="rect">
            <a:avLst/>
          </a:prstGeom>
          <a:noFill/>
        </p:spPr>
        <p:txBody>
          <a:bodyPr wrap="square" lIns="25400" tIns="25400" rIns="25400" rtlCol="0" anchor="t">
            <a:noAutofit/>
          </a:bodyPr>
          <a:p>
            <a:pPr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92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合同</a:t>
            </a:r>
            <a:r>
              <a:rPr lang="en-US" altLang="zh-CN" sz="92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92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发票</a:t>
            </a:r>
            <a:r>
              <a:rPr lang="en-US" altLang="zh-CN" sz="92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92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买方、供应商、金额与到期日；人工复核后创建凭证。</a:t>
            </a:r>
            <a:endParaRPr lang="zh-CN" altLang="en-US" sz="920">
              <a:solidFill>
                <a:srgbClr val="C7D7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3657600" y="1816100"/>
            <a:ext cx="2768600" cy="1676400"/>
          </a:xfrm>
          <a:prstGeom prst="roundRect">
            <a:avLst/>
          </a:prstGeom>
          <a:solidFill>
            <a:srgbClr val="0D2037"/>
          </a:solidFill>
          <a:ln w="12700">
            <a:solidFill>
              <a:srgbClr val="244666">
                <a:alpha val="88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文本框 58"/>
          <p:cNvSpPr txBox="1"/>
          <p:nvPr/>
        </p:nvSpPr>
        <p:spPr>
          <a:xfrm>
            <a:off x="3835400" y="1993900"/>
            <a:ext cx="431800" cy="322580"/>
          </a:xfrm>
          <a:prstGeom prst="rect">
            <a:avLst/>
          </a:prstGeom>
          <a:noFill/>
        </p:spPr>
        <p:txBody>
          <a:bodyPr wrap="square" lIns="0" tIns="0" rIns="0" rtlCol="0" anchor="ctr">
            <a:noAutofit/>
          </a:bodyPr>
          <a:p>
            <a:pPr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700" b="1">
                <a:solidFill>
                  <a:srgbClr val="FFCB66"/>
                </a:solidFill>
                <a:latin typeface="Aptos Display" charset="0"/>
                <a:cs typeface="Aptos Display" charset="0"/>
              </a:rPr>
              <a:t>02</a:t>
            </a:r>
            <a:endParaRPr lang="en-US" altLang="en-US" sz="1700" b="1">
              <a:solidFill>
                <a:srgbClr val="FFCB66"/>
              </a:solidFill>
              <a:latin typeface="Aptos Display" charset="0"/>
              <a:cs typeface="Aptos Display" charset="0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4356100" y="2044700"/>
            <a:ext cx="1879600" cy="335280"/>
          </a:xfrm>
          <a:prstGeom prst="rect">
            <a:avLst/>
          </a:prstGeom>
          <a:noFill/>
        </p:spPr>
        <p:txBody>
          <a:bodyPr wrap="square" lIns="12700" tIns="12700" rIns="12700" rtlCol="0" anchor="ctr">
            <a:noAutofit/>
          </a:bodyPr>
          <a:p>
            <a:pPr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750" b="1" spc="70">
                <a:solidFill>
                  <a:srgbClr val="7894AF"/>
                </a:solidFill>
                <a:latin typeface="Aptos" charset="0"/>
                <a:cs typeface="Aptos" charset="0"/>
              </a:rPr>
              <a:t>SIGNED, NOT LOCKED</a:t>
            </a:r>
            <a:endParaRPr lang="en-US" altLang="en-US" sz="750" b="1" spc="70">
              <a:solidFill>
                <a:srgbClr val="7894AF"/>
              </a:solidFill>
              <a:latin typeface="Aptos" charset="0"/>
              <a:cs typeface="Aptos" charset="0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3835400" y="2425700"/>
            <a:ext cx="2413000" cy="347980"/>
          </a:xfrm>
          <a:prstGeom prst="rect">
            <a:avLst/>
          </a:prstGeom>
          <a:noFill/>
        </p:spPr>
        <p:txBody>
          <a:bodyPr wrap="square" lIns="25400" tIns="25400" rIns="25400" rtlCol="0" anchor="t">
            <a:noAutofit/>
          </a:bodyPr>
          <a:p>
            <a:pPr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20" b="1">
                <a:solidFill>
                  <a:srgbClr val="F4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双签确权</a:t>
            </a:r>
            <a:r>
              <a:rPr lang="en-US" altLang="zh-CN" sz="1320" b="1">
                <a:solidFill>
                  <a:srgbClr val="F4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320" b="1">
                <a:solidFill>
                  <a:srgbClr val="F4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不锁款</a:t>
            </a:r>
            <a:endParaRPr lang="zh-CN" altLang="en-US" sz="1320" b="1">
              <a:solidFill>
                <a:srgbClr val="F4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3835400" y="2832100"/>
            <a:ext cx="2413000" cy="347980"/>
          </a:xfrm>
          <a:prstGeom prst="rect">
            <a:avLst/>
          </a:prstGeom>
          <a:noFill/>
        </p:spPr>
        <p:txBody>
          <a:bodyPr wrap="square" lIns="25400" tIns="25400" rIns="25400" rtlCol="0" anchor="t">
            <a:noAutofit/>
          </a:bodyPr>
          <a:p>
            <a:pPr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92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服务端独立验签；</a:t>
            </a:r>
            <a:r>
              <a:rPr lang="en-US" altLang="zh-CN" sz="92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Approved Payable </a:t>
            </a:r>
            <a:r>
              <a:rPr lang="zh-CN" altLang="en-US" sz="92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与未来</a:t>
            </a:r>
            <a:r>
              <a:rPr lang="en-US" altLang="zh-CN" sz="92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EIP-3009 </a:t>
            </a:r>
            <a:r>
              <a:rPr lang="zh-CN" altLang="en-US" sz="92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授权哈希绑定，签名不转账。</a:t>
            </a:r>
            <a:endParaRPr lang="zh-CN" altLang="en-US" sz="920">
              <a:solidFill>
                <a:srgbClr val="C7D7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圆角矩形 62"/>
          <p:cNvSpPr/>
          <p:nvPr/>
        </p:nvSpPr>
        <p:spPr>
          <a:xfrm>
            <a:off x="609600" y="3606800"/>
            <a:ext cx="2768600" cy="1676400"/>
          </a:xfrm>
          <a:prstGeom prst="roundRect">
            <a:avLst/>
          </a:prstGeom>
          <a:solidFill>
            <a:srgbClr val="0D2037"/>
          </a:solidFill>
          <a:ln w="12700">
            <a:solidFill>
              <a:srgbClr val="244666">
                <a:alpha val="88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文本框 63"/>
          <p:cNvSpPr txBox="1"/>
          <p:nvPr/>
        </p:nvSpPr>
        <p:spPr>
          <a:xfrm>
            <a:off x="787400" y="3784600"/>
            <a:ext cx="431800" cy="322580"/>
          </a:xfrm>
          <a:prstGeom prst="rect">
            <a:avLst/>
          </a:prstGeom>
          <a:noFill/>
        </p:spPr>
        <p:txBody>
          <a:bodyPr wrap="square" lIns="0" tIns="0" rIns="0" rtlCol="0" anchor="ctr">
            <a:noAutofit/>
          </a:bodyPr>
          <a:p>
            <a:pPr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700" b="1">
                <a:solidFill>
                  <a:srgbClr val="45F0C5"/>
                </a:solidFill>
                <a:latin typeface="Aptos Display" charset="0"/>
                <a:cs typeface="Aptos Display" charset="0"/>
              </a:rPr>
              <a:t>03</a:t>
            </a:r>
            <a:endParaRPr lang="en-US" altLang="en-US" sz="1700" b="1">
              <a:solidFill>
                <a:srgbClr val="45F0C5"/>
              </a:solidFill>
              <a:latin typeface="Aptos Display" charset="0"/>
              <a:cs typeface="Aptos Display" charset="0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1308100" y="3835400"/>
            <a:ext cx="1879600" cy="335280"/>
          </a:xfrm>
          <a:prstGeom prst="rect">
            <a:avLst/>
          </a:prstGeom>
          <a:noFill/>
        </p:spPr>
        <p:txBody>
          <a:bodyPr wrap="square" lIns="12700" tIns="12700" rIns="12700" rtlCol="0" anchor="ctr">
            <a:noAutofit/>
          </a:bodyPr>
          <a:p>
            <a:pPr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750" b="1" spc="70">
                <a:solidFill>
                  <a:srgbClr val="7894AF"/>
                </a:solidFill>
                <a:latin typeface="Aptos" charset="0"/>
                <a:cs typeface="Aptos" charset="0"/>
              </a:rPr>
              <a:t>NATIVE STATE MACHINE</a:t>
            </a:r>
            <a:endParaRPr lang="en-US" altLang="en-US" sz="750" b="1" spc="70">
              <a:solidFill>
                <a:srgbClr val="7894AF"/>
              </a:solidFill>
              <a:latin typeface="Aptos" charset="0"/>
              <a:cs typeface="Aptos" charset="0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787400" y="4216400"/>
            <a:ext cx="2413000" cy="347980"/>
          </a:xfrm>
          <a:prstGeom prst="rect">
            <a:avLst/>
          </a:prstGeom>
          <a:noFill/>
        </p:spPr>
        <p:txBody>
          <a:bodyPr wrap="square" lIns="25400" tIns="25400" rIns="25400" rtlCol="0" anchor="t">
            <a:noAutofit/>
          </a:bodyPr>
          <a:p>
            <a:pPr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20" b="1">
                <a:solidFill>
                  <a:srgbClr val="F4F8FC"/>
                </a:solidFill>
                <a:latin typeface="微软雅黑" panose="020B0503020204020204" charset="-122"/>
                <a:ea typeface="微软雅黑" panose="020B0503020204020204" charset="-122"/>
              </a:rPr>
              <a:t>融资状态机上链</a:t>
            </a:r>
            <a:endParaRPr lang="zh-CN" altLang="en-US" sz="1320" b="1">
              <a:solidFill>
                <a:srgbClr val="F4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787400" y="4622800"/>
            <a:ext cx="2413000" cy="347980"/>
          </a:xfrm>
          <a:prstGeom prst="rect">
            <a:avLst/>
          </a:prstGeom>
          <a:noFill/>
        </p:spPr>
        <p:txBody>
          <a:bodyPr wrap="square" lIns="25400" tIns="25400" rIns="25400" rtlCol="0" anchor="t">
            <a:noAutofit/>
          </a:bodyPr>
          <a:p>
            <a:pPr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92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requestFinancing() →
submitOffer() → acceptOffer()
</a:t>
            </a:r>
            <a:r>
              <a:rPr lang="zh-CN" altLang="en-US" sz="92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请求、报价、本金托管与接受状态可核验。</a:t>
            </a:r>
            <a:endParaRPr lang="zh-CN" altLang="en-US" sz="920">
              <a:solidFill>
                <a:srgbClr val="C7D7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圆角矩形 67"/>
          <p:cNvSpPr/>
          <p:nvPr/>
        </p:nvSpPr>
        <p:spPr>
          <a:xfrm>
            <a:off x="3657600" y="3606800"/>
            <a:ext cx="2768600" cy="1676400"/>
          </a:xfrm>
          <a:prstGeom prst="roundRect">
            <a:avLst/>
          </a:prstGeom>
          <a:solidFill>
            <a:srgbClr val="0D2037"/>
          </a:solidFill>
          <a:ln w="12700">
            <a:solidFill>
              <a:srgbClr val="244666">
                <a:alpha val="88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9" name="文本框 68"/>
          <p:cNvSpPr txBox="1"/>
          <p:nvPr/>
        </p:nvSpPr>
        <p:spPr>
          <a:xfrm>
            <a:off x="3835400" y="3784600"/>
            <a:ext cx="431800" cy="322580"/>
          </a:xfrm>
          <a:prstGeom prst="rect">
            <a:avLst/>
          </a:prstGeom>
          <a:noFill/>
        </p:spPr>
        <p:txBody>
          <a:bodyPr wrap="square" lIns="0" tIns="0" rIns="0" rtlCol="0" anchor="ctr">
            <a:noAutofit/>
          </a:bodyPr>
          <a:p>
            <a:pPr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700" b="1">
                <a:solidFill>
                  <a:srgbClr val="3B82F6"/>
                </a:solidFill>
                <a:latin typeface="Aptos Display" charset="0"/>
                <a:cs typeface="Aptos Display" charset="0"/>
              </a:rPr>
              <a:t>04</a:t>
            </a:r>
            <a:endParaRPr lang="en-US" altLang="en-US" sz="1700" b="1">
              <a:solidFill>
                <a:srgbClr val="3B82F6"/>
              </a:solidFill>
              <a:latin typeface="Aptos Display" charset="0"/>
              <a:cs typeface="Aptos Display" charset="0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4356100" y="3835400"/>
            <a:ext cx="1879600" cy="335280"/>
          </a:xfrm>
          <a:prstGeom prst="rect">
            <a:avLst/>
          </a:prstGeom>
          <a:noFill/>
        </p:spPr>
        <p:txBody>
          <a:bodyPr wrap="square" lIns="12700" tIns="12700" rIns="12700" rtlCol="0" anchor="ctr">
            <a:noAutofit/>
          </a:bodyPr>
          <a:p>
            <a:pPr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750" b="1" spc="70">
                <a:solidFill>
                  <a:srgbClr val="7894AF"/>
                </a:solidFill>
                <a:latin typeface="Aptos" charset="0"/>
                <a:cs typeface="Aptos" charset="0"/>
              </a:rPr>
              <a:t>REPLAY-SAFE + AUDIT</a:t>
            </a:r>
            <a:endParaRPr lang="en-US" altLang="en-US" sz="750" b="1" spc="70">
              <a:solidFill>
                <a:srgbClr val="7894AF"/>
              </a:solidFill>
              <a:latin typeface="Aptos" charset="0"/>
              <a:cs typeface="Aptos" charset="0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3835400" y="4216400"/>
            <a:ext cx="2413000" cy="347980"/>
          </a:xfrm>
          <a:prstGeom prst="rect">
            <a:avLst/>
          </a:prstGeom>
          <a:noFill/>
        </p:spPr>
        <p:txBody>
          <a:bodyPr wrap="square" lIns="25400" tIns="25400" rIns="25400" rtlCol="0" anchor="t">
            <a:noAutofit/>
          </a:bodyPr>
          <a:p>
            <a:pPr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20" b="1">
                <a:solidFill>
                  <a:srgbClr val="F4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防重放结算</a:t>
            </a:r>
            <a:r>
              <a:rPr lang="en-US" altLang="zh-CN" sz="1320" b="1">
                <a:solidFill>
                  <a:srgbClr val="F4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1320" b="1">
                <a:solidFill>
                  <a:srgbClr val="F4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异步证明</a:t>
            </a:r>
            <a:endParaRPr lang="zh-CN" altLang="en-US" sz="1320" b="1">
              <a:solidFill>
                <a:srgbClr val="F4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3835400" y="4622800"/>
            <a:ext cx="2413000" cy="347980"/>
          </a:xfrm>
          <a:prstGeom prst="rect">
            <a:avLst/>
          </a:prstGeom>
          <a:noFill/>
        </p:spPr>
        <p:txBody>
          <a:bodyPr wrap="square" lIns="25400" tIns="25400" rIns="25400" rtlCol="0" anchor="t">
            <a:noAutofit/>
          </a:bodyPr>
          <a:p>
            <a:pPr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92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校验窗口、</a:t>
            </a:r>
            <a:r>
              <a:rPr lang="en-US" altLang="zh-CN" sz="92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nonce</a:t>
            </a:r>
            <a:r>
              <a:rPr lang="zh-CN" altLang="en-US" sz="92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、收款人；</a:t>
            </a:r>
            <a:r>
              <a:rPr lang="en-US" altLang="zh-CN" sz="92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ReceivableSettlement </a:t>
            </a:r>
            <a:r>
              <a:rPr lang="zh-CN" altLang="en-US" sz="92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防重复结算，</a:t>
            </a:r>
            <a:r>
              <a:rPr lang="en-US" altLang="zh-CN" sz="92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AuditProofRegistry </a:t>
            </a:r>
            <a:r>
              <a:rPr lang="zh-CN" altLang="en-US" sz="92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登记证据哈希。</a:t>
            </a:r>
            <a:endParaRPr lang="zh-CN" altLang="en-US" sz="920">
              <a:solidFill>
                <a:srgbClr val="C7D7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圆角矩形 72"/>
          <p:cNvSpPr/>
          <p:nvPr/>
        </p:nvSpPr>
        <p:spPr>
          <a:xfrm>
            <a:off x="6756400" y="1816100"/>
            <a:ext cx="4826000" cy="3568700"/>
          </a:xfrm>
          <a:prstGeom prst="roundRect">
            <a:avLst/>
          </a:prstGeom>
          <a:solidFill>
            <a:srgbClr val="0A1D32"/>
          </a:solidFill>
          <a:ln w="12700">
            <a:solidFill>
              <a:srgbClr val="244666">
                <a:alpha val="85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6756400" y="1816100"/>
            <a:ext cx="50800" cy="3568700"/>
          </a:xfrm>
          <a:prstGeom prst="rect">
            <a:avLst/>
          </a:prstGeom>
          <a:solidFill>
            <a:srgbClr val="24D5FF"/>
          </a:solidFill>
          <a:ln w="12700">
            <a:solidFill>
              <a:srgbClr val="24D5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5" name="文本框 74"/>
          <p:cNvSpPr txBox="1"/>
          <p:nvPr/>
        </p:nvSpPr>
        <p:spPr>
          <a:xfrm>
            <a:off x="7086600" y="2032000"/>
            <a:ext cx="4064000" cy="360680"/>
          </a:xfrm>
          <a:prstGeom prst="rect">
            <a:avLst/>
          </a:prstGeom>
          <a:noFill/>
        </p:spPr>
        <p:txBody>
          <a:bodyPr wrap="square" lIns="38100" tIns="38100" rIns="38100" rtlCol="0" anchor="t">
            <a:noAutofit/>
          </a:bodyPr>
          <a:p>
            <a:pPr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800" b="1" spc="140">
                <a:solidFill>
                  <a:srgbClr val="24D5FF"/>
                </a:solidFill>
                <a:latin typeface="Aptos" charset="0"/>
                <a:cs typeface="Aptos" charset="0"/>
              </a:rPr>
              <a:t>VERIFIABLE PATH</a:t>
            </a:r>
            <a:endParaRPr lang="en-US" altLang="en-US" sz="800" b="1" spc="140">
              <a:solidFill>
                <a:srgbClr val="24D5FF"/>
              </a:solidFill>
              <a:latin typeface="Aptos" charset="0"/>
              <a:cs typeface="Aptos" charset="0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7086600" y="2286000"/>
            <a:ext cx="3810000" cy="360680"/>
          </a:xfrm>
          <a:prstGeom prst="rect">
            <a:avLst/>
          </a:prstGeom>
          <a:noFill/>
        </p:spPr>
        <p:txBody>
          <a:bodyPr wrap="square" lIns="38100" tIns="38100" rIns="38100" rtlCol="0" anchor="t">
            <a:noAutofit/>
          </a:bodyPr>
          <a:p>
            <a:pPr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1">
                <a:solidFill>
                  <a:srgbClr val="F4F8FC"/>
                </a:solidFill>
                <a:latin typeface="微软雅黑" panose="020B0503020204020204" charset="-122"/>
                <a:ea typeface="微软雅黑" panose="020B0503020204020204" charset="-122"/>
              </a:rPr>
              <a:t>可验证链路</a:t>
            </a:r>
            <a:endParaRPr lang="zh-CN" altLang="en-US" sz="1600" b="1">
              <a:solidFill>
                <a:srgbClr val="F4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7" name="直接连接符 76"/>
          <p:cNvCxnSpPr/>
          <p:nvPr/>
        </p:nvCxnSpPr>
        <p:spPr>
          <a:xfrm>
            <a:off x="7353300" y="2844800"/>
            <a:ext cx="635" cy="1676400"/>
          </a:xfrm>
          <a:prstGeom prst="line">
            <a:avLst/>
          </a:prstGeom>
          <a:ln w="22860">
            <a:solidFill>
              <a:srgbClr val="244666">
                <a:alpha val="88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>
            <a:off x="7353300" y="4432300"/>
            <a:ext cx="635" cy="127000"/>
          </a:xfrm>
          <a:prstGeom prst="line">
            <a:avLst/>
          </a:prstGeom>
          <a:ln w="22860">
            <a:solidFill>
              <a:srgbClr val="24D5FF">
                <a:alpha val="92000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9" name="椭圆 78"/>
          <p:cNvSpPr/>
          <p:nvPr/>
        </p:nvSpPr>
        <p:spPr>
          <a:xfrm>
            <a:off x="7137400" y="2628900"/>
            <a:ext cx="431800" cy="431800"/>
          </a:xfrm>
          <a:prstGeom prst="ellipse">
            <a:avLst/>
          </a:prstGeom>
          <a:solidFill>
            <a:srgbClr val="24D5FF"/>
          </a:solidFill>
          <a:ln w="19050">
            <a:solidFill>
              <a:srgbClr val="07142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0" name="文本框 79"/>
          <p:cNvSpPr txBox="1"/>
          <p:nvPr/>
        </p:nvSpPr>
        <p:spPr>
          <a:xfrm>
            <a:off x="7137400" y="2755900"/>
            <a:ext cx="431800" cy="322580"/>
          </a:xfrm>
          <a:prstGeom prst="rect">
            <a:avLst/>
          </a:prstGeom>
          <a:noFill/>
        </p:spPr>
        <p:txBody>
          <a:bodyPr wrap="square" lIns="0" tIns="0" rIns="0" rtlCol="0" anchor="ctr">
            <a:noAutofit/>
          </a:bodyPr>
          <a:p>
            <a:pPr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750" b="1">
                <a:solidFill>
                  <a:srgbClr val="071426"/>
                </a:solidFill>
                <a:latin typeface="Aptos" charset="0"/>
                <a:cs typeface="Aptos" charset="0"/>
              </a:rPr>
              <a:t>01</a:t>
            </a:r>
            <a:endParaRPr lang="en-US" altLang="en-US" sz="750" b="1">
              <a:solidFill>
                <a:srgbClr val="071426"/>
              </a:solidFill>
              <a:latin typeface="Aptos" charset="0"/>
              <a:cs typeface="Aptos" charset="0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7747000" y="2641600"/>
            <a:ext cx="3175000" cy="347980"/>
          </a:xfrm>
          <a:prstGeom prst="rect">
            <a:avLst/>
          </a:prstGeom>
          <a:noFill/>
        </p:spPr>
        <p:txBody>
          <a:bodyPr wrap="square" lIns="25400" tIns="25400" rIns="25400" rtlCol="0" anchor="t">
            <a:noAutofit/>
          </a:bodyPr>
          <a:p>
            <a:pPr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80" b="1">
                <a:solidFill>
                  <a:srgbClr val="F4F8FC"/>
                </a:solidFill>
                <a:latin typeface="微软雅黑" panose="020B0503020204020204" charset="-122"/>
                <a:ea typeface="微软雅黑" panose="020B0503020204020204" charset="-122"/>
              </a:rPr>
              <a:t>贸易资料</a:t>
            </a:r>
            <a:endParaRPr lang="zh-CN" altLang="en-US" sz="1080" b="1">
              <a:solidFill>
                <a:srgbClr val="F4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7747000" y="2870200"/>
            <a:ext cx="3175000" cy="360680"/>
          </a:xfrm>
          <a:prstGeom prst="rect">
            <a:avLst/>
          </a:prstGeom>
          <a:noFill/>
        </p:spPr>
        <p:txBody>
          <a:bodyPr wrap="square" lIns="38100" tIns="38100" rIns="38100" rtlCol="0" anchor="t">
            <a:noAutofit/>
          </a:bodyPr>
          <a:p>
            <a:pPr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86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altLang="en-US" sz="86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提取</a:t>
            </a:r>
            <a:r>
              <a:rPr lang="en-US" altLang="zh-CN" sz="86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86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人工复核</a:t>
            </a:r>
            <a:endParaRPr lang="zh-CN" altLang="en-US" sz="860">
              <a:solidFill>
                <a:srgbClr val="C7D7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椭圆 82"/>
          <p:cNvSpPr/>
          <p:nvPr/>
        </p:nvSpPr>
        <p:spPr>
          <a:xfrm>
            <a:off x="7137400" y="3111500"/>
            <a:ext cx="431800" cy="431800"/>
          </a:xfrm>
          <a:prstGeom prst="ellipse">
            <a:avLst/>
          </a:prstGeom>
          <a:solidFill>
            <a:srgbClr val="FFCB66"/>
          </a:solidFill>
          <a:ln w="19050">
            <a:solidFill>
              <a:srgbClr val="07142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4" name="文本框 83"/>
          <p:cNvSpPr txBox="1"/>
          <p:nvPr/>
        </p:nvSpPr>
        <p:spPr>
          <a:xfrm>
            <a:off x="7137400" y="3238500"/>
            <a:ext cx="431800" cy="322580"/>
          </a:xfrm>
          <a:prstGeom prst="rect">
            <a:avLst/>
          </a:prstGeom>
          <a:noFill/>
        </p:spPr>
        <p:txBody>
          <a:bodyPr wrap="square" lIns="0" tIns="0" rIns="0" rtlCol="0" anchor="ctr">
            <a:noAutofit/>
          </a:bodyPr>
          <a:p>
            <a:pPr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750" b="1">
                <a:solidFill>
                  <a:srgbClr val="071426"/>
                </a:solidFill>
                <a:latin typeface="Aptos" charset="0"/>
                <a:cs typeface="Aptos" charset="0"/>
              </a:rPr>
              <a:t>02</a:t>
            </a:r>
            <a:endParaRPr lang="en-US" altLang="en-US" sz="750" b="1">
              <a:solidFill>
                <a:srgbClr val="071426"/>
              </a:solidFill>
              <a:latin typeface="Aptos" charset="0"/>
              <a:cs typeface="Aptos" charset="0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7747000" y="3124200"/>
            <a:ext cx="3175000" cy="347980"/>
          </a:xfrm>
          <a:prstGeom prst="rect">
            <a:avLst/>
          </a:prstGeom>
          <a:noFill/>
        </p:spPr>
        <p:txBody>
          <a:bodyPr wrap="square" lIns="25400" tIns="25400" rIns="25400" rtlCol="0" anchor="t">
            <a:noAutofit/>
          </a:bodyPr>
          <a:p>
            <a:pPr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80" b="1">
                <a:solidFill>
                  <a:srgbClr val="F4F8FC"/>
                </a:solidFill>
                <a:latin typeface="微软雅黑" panose="020B0503020204020204" charset="-122"/>
                <a:ea typeface="微软雅黑" panose="020B0503020204020204" charset="-122"/>
              </a:rPr>
              <a:t>双签授权</a:t>
            </a:r>
            <a:endParaRPr lang="zh-CN" altLang="en-US" sz="1080" b="1">
              <a:solidFill>
                <a:srgbClr val="F4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7747000" y="3352800"/>
            <a:ext cx="3175000" cy="360680"/>
          </a:xfrm>
          <a:prstGeom prst="rect">
            <a:avLst/>
          </a:prstGeom>
          <a:noFill/>
        </p:spPr>
        <p:txBody>
          <a:bodyPr wrap="square" lIns="38100" tIns="38100" rIns="38100" rtlCol="0" anchor="t">
            <a:noAutofit/>
          </a:bodyPr>
          <a:p>
            <a:pPr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86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独立验签</a:t>
            </a:r>
            <a:r>
              <a:rPr lang="en-US" altLang="zh-CN" sz="86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86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哈希绑定</a:t>
            </a:r>
            <a:endParaRPr lang="zh-CN" altLang="en-US" sz="860">
              <a:solidFill>
                <a:srgbClr val="C7D7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椭圆 86"/>
          <p:cNvSpPr/>
          <p:nvPr/>
        </p:nvSpPr>
        <p:spPr>
          <a:xfrm>
            <a:off x="7137400" y="3594100"/>
            <a:ext cx="431800" cy="431800"/>
          </a:xfrm>
          <a:prstGeom prst="ellipse">
            <a:avLst/>
          </a:prstGeom>
          <a:solidFill>
            <a:srgbClr val="45F0C5"/>
          </a:solidFill>
          <a:ln w="19050">
            <a:solidFill>
              <a:srgbClr val="07142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8" name="文本框 87"/>
          <p:cNvSpPr txBox="1"/>
          <p:nvPr/>
        </p:nvSpPr>
        <p:spPr>
          <a:xfrm>
            <a:off x="7137400" y="3721100"/>
            <a:ext cx="431800" cy="322580"/>
          </a:xfrm>
          <a:prstGeom prst="rect">
            <a:avLst/>
          </a:prstGeom>
          <a:noFill/>
        </p:spPr>
        <p:txBody>
          <a:bodyPr wrap="square" lIns="0" tIns="0" rIns="0" rtlCol="0" anchor="ctr">
            <a:noAutofit/>
          </a:bodyPr>
          <a:p>
            <a:pPr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750" b="1">
                <a:solidFill>
                  <a:srgbClr val="071426"/>
                </a:solidFill>
                <a:latin typeface="Aptos" charset="0"/>
                <a:cs typeface="Aptos" charset="0"/>
              </a:rPr>
              <a:t>03</a:t>
            </a:r>
            <a:endParaRPr lang="en-US" altLang="en-US" sz="750" b="1">
              <a:solidFill>
                <a:srgbClr val="071426"/>
              </a:solidFill>
              <a:latin typeface="Aptos" charset="0"/>
              <a:cs typeface="Aptos" charset="0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7747000" y="3606800"/>
            <a:ext cx="3175000" cy="347980"/>
          </a:xfrm>
          <a:prstGeom prst="rect">
            <a:avLst/>
          </a:prstGeom>
          <a:noFill/>
        </p:spPr>
        <p:txBody>
          <a:bodyPr wrap="square" lIns="25400" tIns="25400" rIns="25400" rtlCol="0" anchor="t">
            <a:noAutofit/>
          </a:bodyPr>
          <a:p>
            <a:pPr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1080" b="1">
                <a:solidFill>
                  <a:srgbClr val="F4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CC3 </a:t>
            </a:r>
            <a:r>
              <a:rPr lang="zh-CN" altLang="en-US" sz="1080" b="1">
                <a:solidFill>
                  <a:srgbClr val="F4F8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链上状态</a:t>
            </a:r>
            <a:endParaRPr lang="zh-CN" altLang="en-US" sz="1080" b="1">
              <a:solidFill>
                <a:srgbClr val="F4F8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7747000" y="3835400"/>
            <a:ext cx="3175000" cy="360680"/>
          </a:xfrm>
          <a:prstGeom prst="rect">
            <a:avLst/>
          </a:prstGeom>
          <a:noFill/>
        </p:spPr>
        <p:txBody>
          <a:bodyPr wrap="square" lIns="38100" tIns="38100" rIns="38100" rtlCol="0" anchor="t">
            <a:noAutofit/>
          </a:bodyPr>
          <a:p>
            <a:pPr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86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</a:rPr>
              <a:t>ReceivableSettlement</a:t>
            </a:r>
            <a:endParaRPr lang="en-US" altLang="en-US" sz="860">
              <a:solidFill>
                <a:srgbClr val="C7D7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椭圆 90"/>
          <p:cNvSpPr/>
          <p:nvPr/>
        </p:nvSpPr>
        <p:spPr>
          <a:xfrm>
            <a:off x="7137400" y="4076700"/>
            <a:ext cx="431800" cy="431800"/>
          </a:xfrm>
          <a:prstGeom prst="ellipse">
            <a:avLst/>
          </a:prstGeom>
          <a:solidFill>
            <a:srgbClr val="3B82F6"/>
          </a:solidFill>
          <a:ln w="19050">
            <a:solidFill>
              <a:srgbClr val="07142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2" name="文本框 91"/>
          <p:cNvSpPr txBox="1"/>
          <p:nvPr/>
        </p:nvSpPr>
        <p:spPr>
          <a:xfrm>
            <a:off x="7137400" y="4203700"/>
            <a:ext cx="431800" cy="322580"/>
          </a:xfrm>
          <a:prstGeom prst="rect">
            <a:avLst/>
          </a:prstGeom>
          <a:noFill/>
        </p:spPr>
        <p:txBody>
          <a:bodyPr wrap="square" lIns="0" tIns="0" rIns="0" rtlCol="0" anchor="ctr">
            <a:noAutofit/>
          </a:bodyPr>
          <a:p>
            <a:pPr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750" b="1">
                <a:solidFill>
                  <a:srgbClr val="071426"/>
                </a:solidFill>
                <a:latin typeface="Aptos" charset="0"/>
                <a:cs typeface="Aptos" charset="0"/>
              </a:rPr>
              <a:t>04</a:t>
            </a:r>
            <a:endParaRPr lang="en-US" altLang="en-US" sz="750" b="1">
              <a:solidFill>
                <a:srgbClr val="071426"/>
              </a:solidFill>
              <a:latin typeface="Aptos" charset="0"/>
              <a:cs typeface="Aptos" charset="0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7747000" y="4089400"/>
            <a:ext cx="3175000" cy="347980"/>
          </a:xfrm>
          <a:prstGeom prst="rect">
            <a:avLst/>
          </a:prstGeom>
          <a:noFill/>
        </p:spPr>
        <p:txBody>
          <a:bodyPr wrap="square" lIns="25400" tIns="25400" rIns="25400" rtlCol="0" anchor="t">
            <a:noAutofit/>
          </a:bodyPr>
          <a:p>
            <a:pPr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80" b="1">
                <a:solidFill>
                  <a:srgbClr val="F4F8FC"/>
                </a:solidFill>
                <a:latin typeface="微软雅黑" panose="020B0503020204020204" charset="-122"/>
                <a:ea typeface="微软雅黑" panose="020B0503020204020204" charset="-122"/>
              </a:rPr>
              <a:t>异步审计证据</a:t>
            </a:r>
            <a:endParaRPr lang="zh-CN" altLang="en-US" sz="1080" b="1">
              <a:solidFill>
                <a:srgbClr val="F4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7747000" y="4318000"/>
            <a:ext cx="3175000" cy="360680"/>
          </a:xfrm>
          <a:prstGeom prst="rect">
            <a:avLst/>
          </a:prstGeom>
          <a:noFill/>
        </p:spPr>
        <p:txBody>
          <a:bodyPr wrap="square" lIns="38100" tIns="38100" rIns="38100" rtlCol="0" anchor="t">
            <a:noAutofit/>
          </a:bodyPr>
          <a:p>
            <a:pPr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860">
                <a:solidFill>
                  <a:srgbClr val="C7D7E8"/>
                </a:solidFill>
                <a:latin typeface="微软雅黑" panose="020B0503020204020204" charset="-122"/>
                <a:ea typeface="微软雅黑" panose="020B0503020204020204" charset="-122"/>
              </a:rPr>
              <a:t>AuditProofRegistry</a:t>
            </a:r>
            <a:endParaRPr lang="en-US" altLang="en-US" sz="860">
              <a:solidFill>
                <a:srgbClr val="C7D7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圆角矩形 94"/>
          <p:cNvSpPr/>
          <p:nvPr/>
        </p:nvSpPr>
        <p:spPr>
          <a:xfrm>
            <a:off x="7086600" y="4635500"/>
            <a:ext cx="1066800" cy="304800"/>
          </a:xfrm>
          <a:prstGeom prst="roundRect">
            <a:avLst/>
          </a:prstGeom>
          <a:solidFill>
            <a:srgbClr val="102A47"/>
          </a:solidFill>
          <a:ln w="12700">
            <a:solidFill>
              <a:srgbClr val="24D5FF">
                <a:alpha val="48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6" name="文本框 95"/>
          <p:cNvSpPr txBox="1"/>
          <p:nvPr/>
        </p:nvSpPr>
        <p:spPr>
          <a:xfrm>
            <a:off x="7150100" y="4673600"/>
            <a:ext cx="939800" cy="335280"/>
          </a:xfrm>
          <a:prstGeom prst="rect">
            <a:avLst/>
          </a:prstGeom>
          <a:noFill/>
        </p:spPr>
        <p:txBody>
          <a:bodyPr wrap="square" lIns="12700" tIns="12700" rIns="12700" rtlCol="0" anchor="ctr">
            <a:noAutofit/>
          </a:bodyPr>
          <a:p>
            <a:pPr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860" b="1">
                <a:solidFill>
                  <a:srgbClr val="24D5FF"/>
                </a:solidFill>
                <a:latin typeface="Aptos" charset="0"/>
                <a:cs typeface="Aptos" charset="0"/>
              </a:rPr>
              <a:t>CC3 TESTNET</a:t>
            </a:r>
            <a:endParaRPr lang="en-US" altLang="en-US" sz="860" b="1">
              <a:solidFill>
                <a:srgbClr val="24D5FF"/>
              </a:solidFill>
              <a:latin typeface="Aptos" charset="0"/>
              <a:cs typeface="Aptos" charset="0"/>
            </a:endParaRPr>
          </a:p>
        </p:txBody>
      </p:sp>
      <p:sp>
        <p:nvSpPr>
          <p:cNvPr id="97" name="圆角矩形 96"/>
          <p:cNvSpPr/>
          <p:nvPr/>
        </p:nvSpPr>
        <p:spPr>
          <a:xfrm>
            <a:off x="8229600" y="4635500"/>
            <a:ext cx="889000" cy="304800"/>
          </a:xfrm>
          <a:prstGeom prst="roundRect">
            <a:avLst/>
          </a:prstGeom>
          <a:solidFill>
            <a:srgbClr val="102A47"/>
          </a:solidFill>
          <a:ln w="12700">
            <a:solidFill>
              <a:srgbClr val="FFCB66">
                <a:alpha val="48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8" name="文本框 97"/>
          <p:cNvSpPr txBox="1"/>
          <p:nvPr/>
        </p:nvSpPr>
        <p:spPr>
          <a:xfrm>
            <a:off x="8293100" y="4673600"/>
            <a:ext cx="762000" cy="335280"/>
          </a:xfrm>
          <a:prstGeom prst="rect">
            <a:avLst/>
          </a:prstGeom>
          <a:noFill/>
        </p:spPr>
        <p:txBody>
          <a:bodyPr wrap="square" lIns="12700" tIns="12700" rIns="12700" rtlCol="0" anchor="ctr">
            <a:noAutofit/>
          </a:bodyPr>
          <a:p>
            <a:pPr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860" b="1">
                <a:solidFill>
                  <a:srgbClr val="FFCB66"/>
                </a:solidFill>
                <a:latin typeface="Aptos" charset="0"/>
                <a:cs typeface="Aptos" charset="0"/>
              </a:rPr>
              <a:t>MockUSDC</a:t>
            </a:r>
            <a:endParaRPr lang="en-US" altLang="en-US" sz="860" b="1">
              <a:solidFill>
                <a:srgbClr val="FFCB66"/>
              </a:solidFill>
              <a:latin typeface="Aptos" charset="0"/>
              <a:cs typeface="Aptos" charset="0"/>
            </a:endParaRPr>
          </a:p>
        </p:txBody>
      </p:sp>
      <p:sp>
        <p:nvSpPr>
          <p:cNvPr id="99" name="圆角矩形 98"/>
          <p:cNvSpPr/>
          <p:nvPr/>
        </p:nvSpPr>
        <p:spPr>
          <a:xfrm>
            <a:off x="9194800" y="4635500"/>
            <a:ext cx="990600" cy="304800"/>
          </a:xfrm>
          <a:prstGeom prst="roundRect">
            <a:avLst/>
          </a:prstGeom>
          <a:solidFill>
            <a:srgbClr val="102A47"/>
          </a:solidFill>
          <a:ln w="12700">
            <a:solidFill>
              <a:srgbClr val="45F0C5">
                <a:alpha val="48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0" name="文本框 99"/>
          <p:cNvSpPr txBox="1"/>
          <p:nvPr/>
        </p:nvSpPr>
        <p:spPr>
          <a:xfrm>
            <a:off x="9258300" y="4673600"/>
            <a:ext cx="863600" cy="335280"/>
          </a:xfrm>
          <a:prstGeom prst="rect">
            <a:avLst/>
          </a:prstGeom>
          <a:noFill/>
        </p:spPr>
        <p:txBody>
          <a:bodyPr wrap="square" lIns="12700" tIns="12700" rIns="12700" rtlCol="0" anchor="ctr">
            <a:noAutofit/>
          </a:bodyPr>
          <a:p>
            <a:pPr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860" b="1">
                <a:solidFill>
                  <a:srgbClr val="45F0C5"/>
                </a:solidFill>
                <a:latin typeface="Aptos" charset="0"/>
                <a:cs typeface="Aptos" charset="0"/>
              </a:rPr>
              <a:t>许可式</a:t>
            </a:r>
            <a:r>
              <a:rPr lang="en-US" altLang="zh-CN" sz="860" b="1">
                <a:solidFill>
                  <a:srgbClr val="45F0C5"/>
                </a:solidFill>
                <a:latin typeface="Aptos" charset="0"/>
                <a:cs typeface="Aptos" charset="0"/>
              </a:rPr>
              <a:t> MVP</a:t>
            </a:r>
            <a:endParaRPr lang="en-US" altLang="zh-CN" sz="860" b="1">
              <a:solidFill>
                <a:srgbClr val="45F0C5"/>
              </a:solidFill>
              <a:latin typeface="Aptos" charset="0"/>
              <a:cs typeface="Aptos" charset="0"/>
            </a:endParaRPr>
          </a:p>
        </p:txBody>
      </p:sp>
      <p:sp>
        <p:nvSpPr>
          <p:cNvPr id="101" name="圆角矩形 100"/>
          <p:cNvSpPr/>
          <p:nvPr/>
        </p:nvSpPr>
        <p:spPr>
          <a:xfrm>
            <a:off x="10261600" y="4635500"/>
            <a:ext cx="1066800" cy="304800"/>
          </a:xfrm>
          <a:prstGeom prst="roundRect">
            <a:avLst/>
          </a:prstGeom>
          <a:solidFill>
            <a:srgbClr val="102A47"/>
          </a:solidFill>
          <a:ln w="12700">
            <a:solidFill>
              <a:srgbClr val="3B82F6">
                <a:alpha val="48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2" name="文本框 101"/>
          <p:cNvSpPr txBox="1"/>
          <p:nvPr/>
        </p:nvSpPr>
        <p:spPr>
          <a:xfrm>
            <a:off x="10325100" y="4673600"/>
            <a:ext cx="939800" cy="335280"/>
          </a:xfrm>
          <a:prstGeom prst="rect">
            <a:avLst/>
          </a:prstGeom>
          <a:noFill/>
        </p:spPr>
        <p:txBody>
          <a:bodyPr wrap="square" lIns="12700" tIns="12700" rIns="12700" rtlCol="0" anchor="ctr">
            <a:noAutofit/>
          </a:bodyPr>
          <a:p>
            <a:pPr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860" b="1">
                <a:solidFill>
                  <a:srgbClr val="3B82F6"/>
                </a:solidFill>
                <a:latin typeface="Aptos" charset="0"/>
                <a:cs typeface="Aptos" charset="0"/>
              </a:rPr>
              <a:t>受限</a:t>
            </a:r>
            <a:r>
              <a:rPr lang="en-US" altLang="zh-CN" sz="860" b="1">
                <a:solidFill>
                  <a:srgbClr val="3B82F6"/>
                </a:solidFill>
                <a:latin typeface="Aptos" charset="0"/>
                <a:cs typeface="Aptos" charset="0"/>
              </a:rPr>
              <a:t> Relayer</a:t>
            </a:r>
            <a:endParaRPr lang="en-US" altLang="zh-CN" sz="860" b="1">
              <a:solidFill>
                <a:srgbClr val="3B82F6"/>
              </a:solidFill>
              <a:latin typeface="Aptos" charset="0"/>
              <a:cs typeface="Aptos" charset="0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7086600" y="5041900"/>
            <a:ext cx="4241800" cy="335280"/>
          </a:xfrm>
          <a:prstGeom prst="rect">
            <a:avLst/>
          </a:prstGeom>
          <a:noFill/>
        </p:spPr>
        <p:txBody>
          <a:bodyPr wrap="square" lIns="12700" tIns="12700" rIns="12700" rtlCol="0" anchor="t">
            <a:noAutofit/>
          </a:bodyPr>
          <a:p>
            <a:pPr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750">
                <a:solidFill>
                  <a:srgbClr val="7894AF"/>
                </a:solidFill>
                <a:latin typeface="微软雅黑" panose="020B0503020204020204" charset="-122"/>
                <a:ea typeface="微软雅黑" panose="020B0503020204020204" charset="-122"/>
              </a:rPr>
              <a:t>审计证明交易事实，不等于余额充足或还款保证。</a:t>
            </a:r>
            <a:endParaRPr lang="zh-CN" altLang="en-US" sz="750">
              <a:solidFill>
                <a:srgbClr val="7894A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" name="圆角矩形 103"/>
          <p:cNvSpPr/>
          <p:nvPr/>
        </p:nvSpPr>
        <p:spPr>
          <a:xfrm>
            <a:off x="609600" y="5600700"/>
            <a:ext cx="10972800" cy="647700"/>
          </a:xfrm>
          <a:prstGeom prst="roundRect">
            <a:avLst/>
          </a:prstGeom>
          <a:solidFill>
            <a:srgbClr val="102A47"/>
          </a:solidFill>
          <a:ln w="12700">
            <a:solidFill>
              <a:srgbClr val="244666">
                <a:alpha val="88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5" name="文本框 104"/>
          <p:cNvSpPr txBox="1"/>
          <p:nvPr/>
        </p:nvSpPr>
        <p:spPr>
          <a:xfrm>
            <a:off x="889000" y="5702300"/>
            <a:ext cx="1016000" cy="335280"/>
          </a:xfrm>
          <a:prstGeom prst="rect">
            <a:avLst/>
          </a:prstGeom>
          <a:noFill/>
        </p:spPr>
        <p:txBody>
          <a:bodyPr wrap="square" lIns="12700" tIns="12700" rIns="12700" rtlCol="0" anchor="t">
            <a:noAutofit/>
          </a:bodyPr>
          <a:p>
            <a:pPr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860" b="1">
                <a:solidFill>
                  <a:srgbClr val="24D5FF"/>
                </a:solidFill>
                <a:latin typeface="微软雅黑" panose="020B0503020204020204" charset="-122"/>
                <a:ea typeface="微软雅黑" panose="020B0503020204020204" charset="-122"/>
              </a:rPr>
              <a:t>供应商</a:t>
            </a:r>
            <a:endParaRPr lang="zh-CN" altLang="en-US" sz="860" b="1">
              <a:solidFill>
                <a:srgbClr val="24D5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" name="文本框 105"/>
          <p:cNvSpPr txBox="1"/>
          <p:nvPr/>
        </p:nvSpPr>
        <p:spPr>
          <a:xfrm>
            <a:off x="889000" y="5918200"/>
            <a:ext cx="2921000" cy="347980"/>
          </a:xfrm>
          <a:prstGeom prst="rect">
            <a:avLst/>
          </a:prstGeom>
          <a:noFill/>
        </p:spPr>
        <p:txBody>
          <a:bodyPr wrap="square" lIns="25400" tIns="25400" rIns="25400" rtlCol="0" anchor="t">
            <a:noAutofit/>
          </a:bodyPr>
          <a:p>
            <a:pPr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1">
                <a:solidFill>
                  <a:srgbClr val="F4F8FC"/>
                </a:solidFill>
                <a:latin typeface="微软雅黑" panose="020B0503020204020204" charset="-122"/>
                <a:ea typeface="微软雅黑" panose="020B0503020204020204" charset="-122"/>
              </a:rPr>
              <a:t>提前获得流动性</a:t>
            </a:r>
            <a:endParaRPr lang="zh-CN" altLang="en-US" sz="1100" b="1">
              <a:solidFill>
                <a:srgbClr val="F4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4572000" y="5702300"/>
            <a:ext cx="1016000" cy="335280"/>
          </a:xfrm>
          <a:prstGeom prst="rect">
            <a:avLst/>
          </a:prstGeom>
          <a:noFill/>
        </p:spPr>
        <p:txBody>
          <a:bodyPr wrap="square" lIns="12700" tIns="12700" rIns="12700" rtlCol="0" anchor="t">
            <a:noAutofit/>
          </a:bodyPr>
          <a:p>
            <a:pPr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860" b="1">
                <a:solidFill>
                  <a:srgbClr val="FFCB66"/>
                </a:solidFill>
                <a:latin typeface="微软雅黑" panose="020B0503020204020204" charset="-122"/>
                <a:ea typeface="微软雅黑" panose="020B0503020204020204" charset="-122"/>
              </a:rPr>
              <a:t>核心买方</a:t>
            </a:r>
            <a:endParaRPr lang="zh-CN" altLang="en-US" sz="860" b="1">
              <a:solidFill>
                <a:srgbClr val="FFCB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" name="文本框 107"/>
          <p:cNvSpPr txBox="1"/>
          <p:nvPr/>
        </p:nvSpPr>
        <p:spPr>
          <a:xfrm>
            <a:off x="4572000" y="5918200"/>
            <a:ext cx="2921000" cy="347980"/>
          </a:xfrm>
          <a:prstGeom prst="rect">
            <a:avLst/>
          </a:prstGeom>
          <a:noFill/>
        </p:spPr>
        <p:txBody>
          <a:bodyPr wrap="square" lIns="25400" tIns="25400" rIns="25400" rtlCol="0" anchor="t">
            <a:noAutofit/>
          </a:bodyPr>
          <a:p>
            <a:pPr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1">
                <a:solidFill>
                  <a:srgbClr val="F4F8FC"/>
                </a:solidFill>
                <a:latin typeface="微软雅黑" panose="020B0503020204020204" charset="-122"/>
                <a:ea typeface="微软雅黑" panose="020B0503020204020204" charset="-122"/>
              </a:rPr>
              <a:t>确权时不锁款</a:t>
            </a:r>
            <a:endParaRPr lang="zh-CN" altLang="en-US" sz="1100" b="1">
              <a:solidFill>
                <a:srgbClr val="F4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9" name="文本框 108"/>
          <p:cNvSpPr txBox="1"/>
          <p:nvPr/>
        </p:nvSpPr>
        <p:spPr>
          <a:xfrm>
            <a:off x="8255000" y="5702300"/>
            <a:ext cx="1016000" cy="335280"/>
          </a:xfrm>
          <a:prstGeom prst="rect">
            <a:avLst/>
          </a:prstGeom>
          <a:noFill/>
        </p:spPr>
        <p:txBody>
          <a:bodyPr wrap="square" lIns="12700" tIns="12700" rIns="12700" rtlCol="0" anchor="t">
            <a:noAutofit/>
          </a:bodyPr>
          <a:p>
            <a:pPr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860" b="1">
                <a:solidFill>
                  <a:srgbClr val="45F0C5"/>
                </a:solidFill>
                <a:latin typeface="微软雅黑" panose="020B0503020204020204" charset="-122"/>
                <a:ea typeface="微软雅黑" panose="020B0503020204020204" charset="-122"/>
              </a:rPr>
              <a:t>资金方</a:t>
            </a:r>
            <a:endParaRPr lang="zh-CN" altLang="en-US" sz="860" b="1">
              <a:solidFill>
                <a:srgbClr val="45F0C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8255000" y="5918200"/>
            <a:ext cx="2921000" cy="347980"/>
          </a:xfrm>
          <a:prstGeom prst="rect">
            <a:avLst/>
          </a:prstGeom>
          <a:noFill/>
        </p:spPr>
        <p:txBody>
          <a:bodyPr wrap="square" lIns="25400" tIns="25400" rIns="25400" rtlCol="0" anchor="t">
            <a:noAutofit/>
          </a:bodyPr>
          <a:p>
            <a:pPr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1">
                <a:solidFill>
                  <a:srgbClr val="F4F8FC"/>
                </a:solidFill>
                <a:latin typeface="微软雅黑" panose="020B0503020204020204" charset="-122"/>
                <a:ea typeface="微软雅黑" panose="020B0503020204020204" charset="-122"/>
              </a:rPr>
              <a:t>可验证权属与到期兑付</a:t>
            </a:r>
            <a:endParaRPr lang="zh-CN" altLang="en-US" sz="1100" b="1">
              <a:solidFill>
                <a:srgbClr val="F4F8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1" name="直接连接符 110"/>
          <p:cNvCxnSpPr/>
          <p:nvPr/>
        </p:nvCxnSpPr>
        <p:spPr>
          <a:xfrm>
            <a:off x="4279900" y="5715000"/>
            <a:ext cx="635" cy="419100"/>
          </a:xfrm>
          <a:prstGeom prst="line">
            <a:avLst/>
          </a:prstGeom>
          <a:ln w="10160">
            <a:solidFill>
              <a:srgbClr val="24466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2" name="直接连接符 111"/>
          <p:cNvCxnSpPr/>
          <p:nvPr/>
        </p:nvCxnSpPr>
        <p:spPr>
          <a:xfrm>
            <a:off x="7962900" y="5715000"/>
            <a:ext cx="635" cy="419100"/>
          </a:xfrm>
          <a:prstGeom prst="line">
            <a:avLst/>
          </a:prstGeom>
          <a:ln w="10160">
            <a:solidFill>
              <a:srgbClr val="244666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3" name="文本框 112"/>
          <p:cNvSpPr txBox="1"/>
          <p:nvPr/>
        </p:nvSpPr>
        <p:spPr>
          <a:xfrm>
            <a:off x="609600" y="6311900"/>
            <a:ext cx="10972800" cy="322580"/>
          </a:xfrm>
          <a:prstGeom prst="rect">
            <a:avLst/>
          </a:prstGeom>
          <a:noFill/>
        </p:spPr>
        <p:txBody>
          <a:bodyPr wrap="square" lIns="0" tIns="0" rIns="0" rtlCol="0" anchor="ctr">
            <a:noAutofit/>
          </a:bodyPr>
          <a:p>
            <a:pPr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750">
                <a:solidFill>
                  <a:srgbClr val="7894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演示边界：</a:t>
            </a:r>
            <a:r>
              <a:rPr lang="en-US" altLang="zh-CN" sz="750">
                <a:solidFill>
                  <a:srgbClr val="7894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Creditcoin CC3 </a:t>
            </a:r>
            <a:r>
              <a:rPr lang="zh-CN" altLang="en-US" sz="750">
                <a:solidFill>
                  <a:srgbClr val="7894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测试网</a:t>
            </a:r>
            <a:r>
              <a:rPr lang="en-US" altLang="zh-CN" sz="750">
                <a:solidFill>
                  <a:srgbClr val="7894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MockUSDC · </a:t>
            </a:r>
            <a:r>
              <a:rPr lang="zh-CN" altLang="en-US" sz="750">
                <a:solidFill>
                  <a:srgbClr val="7894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许可式流程</a:t>
            </a:r>
            <a:endParaRPr lang="zh-CN" altLang="en-US" sz="750">
              <a:solidFill>
                <a:srgbClr val="7894A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1150</Words>
  <Application>WPS 演示</Application>
  <PresentationFormat>宽屏</PresentationFormat>
  <Paragraphs>180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4" baseType="lpstr">
      <vt:lpstr>Arial</vt:lpstr>
      <vt:lpstr>宋体</vt:lpstr>
      <vt:lpstr>Wingdings</vt:lpstr>
      <vt:lpstr>Wingdings</vt:lpstr>
      <vt:lpstr>Arial Unicode MS</vt:lpstr>
      <vt:lpstr>微软雅黑</vt:lpstr>
      <vt:lpstr>Calibri</vt:lpstr>
      <vt:lpstr>Aptos</vt:lpstr>
      <vt:lpstr>Segoe UI</vt:lpstr>
      <vt:lpstr>Aptos Display</vt:lpstr>
      <vt:lpstr>Segoe UI Variable Display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phily</dc:creator>
  <cp:lastModifiedBy>phil</cp:lastModifiedBy>
  <cp:revision>157</cp:revision>
  <dcterms:created xsi:type="dcterms:W3CDTF">2019-06-19T02:08:00Z</dcterms:created>
  <dcterms:modified xsi:type="dcterms:W3CDTF">2026-08-27T06:27:09Z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A40D3F1F16C04FD887908F62E932BAAB_11</vt:lpwstr>
  </property>
</Properties>
</file>