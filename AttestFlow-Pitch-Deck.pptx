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71426"/>
                </a:solid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4D5FF"/>
          </a:solidFill>
          <a:ln w="12700">
            <a:solidFill>
              <a:srgbClr val="24D5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09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066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524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981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95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352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810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267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724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181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38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96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553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010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467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924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382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839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9296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9753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0210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0668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1125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1582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81000" y="431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81000" y="889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1000" y="1346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81000" y="1803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81000" y="22606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81000" y="2717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81000" y="3175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381000" y="3632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381000" y="4089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81000" y="45466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81000" y="5003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381000" y="5461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81000" y="5918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81000" y="6375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0" y="50800"/>
            <a:ext cx="12192000" cy="6413500"/>
          </a:xfrm>
          <a:prstGeom prst="rect">
            <a:avLst/>
          </a:prstGeom>
          <a:solidFill>
            <a:srgbClr val="071426">
              <a:alpha val="90000"/>
            </a:srgbClr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71426"/>
                </a:solid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609600" y="6502400"/>
            <a:ext cx="10972800" cy="635"/>
          </a:xfrm>
          <a:prstGeom prst="line">
            <a:avLst/>
          </a:prstGeom>
          <a:ln w="9525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609600" y="6578600"/>
            <a:ext cx="1206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en-US" altLang="en-US" sz="835" b="1">
                <a:solidFill>
                  <a:srgbClr val="7894AF"/>
                </a:solidFill>
                <a:latin typeface="Aptos" charset="0"/>
                <a:cs typeface="Aptos" charset="0"/>
              </a:rPr>
              <a:t>ATTESTFLOW</a:t>
            </a:r>
            <a:endParaRPr lang="en-US" altLang="en-US" sz="835" b="1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740900" y="6578600"/>
            <a:ext cx="1587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80000"/>
          </a:bodyPr>
          <a:p>
            <a:pPr algn="r"/>
            <a:r>
              <a:rPr lang="en-US" altLang="en-US" sz="1250" b="1">
                <a:solidFill>
                  <a:srgbClr val="7894AF"/>
                </a:solidFill>
                <a:latin typeface="Aptos" charset="0"/>
                <a:cs typeface="Aptos" charset="0"/>
              </a:rPr>
              <a:t>ATTESTCOIN PROTOCOL</a:t>
            </a:r>
            <a:endParaRPr lang="en-US" altLang="en-US" sz="1250" b="1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1493500" y="6578600"/>
            <a:ext cx="152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r"/>
            <a:r>
              <a:rPr lang="en-US" altLang="en-US" sz="835">
                <a:solidFill>
                  <a:srgbClr val="7894AF"/>
                </a:solidFill>
                <a:latin typeface="Aptos" charset="0"/>
                <a:cs typeface="Aptos" charset="0"/>
              </a:rPr>
              <a:t>1</a:t>
            </a:r>
            <a:endParaRPr lang="en-US" altLang="en-US" sz="835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22300" y="355600"/>
            <a:ext cx="4318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en-US" altLang="en-US" sz="945" b="1" spc="150">
                <a:solidFill>
                  <a:srgbClr val="24D5FF"/>
                </a:solidFill>
                <a:latin typeface="Aptos" charset="0"/>
                <a:cs typeface="Aptos" charset="0"/>
              </a:rPr>
              <a:t>01  /  ATTESTCOIN IN THE LOOP</a:t>
            </a:r>
            <a:endParaRPr lang="en-US" altLang="en-US" sz="945" b="1" spc="150">
              <a:solidFill>
                <a:srgbClr val="24D5FF"/>
              </a:solidFill>
              <a:latin typeface="Aptos" charset="0"/>
              <a:cs typeface="Aptos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09600" y="660400"/>
            <a:ext cx="109728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l"/>
            <a:r>
              <a:rPr lang="zh-CN" altLang="en-US" sz="23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一张真实发票，如何变成可融资、可兑付的数字资产？</a:t>
            </a:r>
            <a:endParaRPr lang="zh-CN" altLang="en-US" sz="23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22300" y="1282700"/>
            <a:ext cx="10795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en-US" altLang="en-US" sz="1165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AttestFlow </a:t>
            </a:r>
            <a:r>
              <a:rPr lang="zh-CN" altLang="en-US" sz="1165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不是在流程末尾补一个证明，而是用</a:t>
            </a:r>
            <a:r>
              <a:rPr lang="en-US" altLang="zh-CN" sz="1165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Attestcoin </a:t>
            </a:r>
            <a:r>
              <a:rPr lang="zh-CN" altLang="en-US" sz="1165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协议驱动证据、融资、权属与兑付。</a:t>
            </a:r>
            <a:endParaRPr lang="zh-CN" altLang="en-US" sz="1165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711200" y="2070100"/>
            <a:ext cx="10756900" cy="635"/>
          </a:xfrm>
          <a:prstGeom prst="line">
            <a:avLst/>
          </a:prstGeom>
          <a:ln w="25400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圆角矩形 51"/>
          <p:cNvSpPr/>
          <p:nvPr/>
        </p:nvSpPr>
        <p:spPr>
          <a:xfrm>
            <a:off x="609600" y="1778000"/>
            <a:ext cx="1422400" cy="22860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D5FF">
                <a:alpha val="5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1143000" y="1612900"/>
            <a:ext cx="355600" cy="355600"/>
          </a:xfrm>
          <a:prstGeom prst="ellipse">
            <a:avLst/>
          </a:prstGeom>
          <a:solidFill>
            <a:srgbClr val="24D5FF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143000" y="17145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en-US" altLang="en-US" sz="835" b="1">
                <a:solidFill>
                  <a:srgbClr val="071426"/>
                </a:solidFill>
                <a:latin typeface="Aptos" charset="0"/>
                <a:cs typeface="Aptos" charset="0"/>
              </a:rPr>
              <a:t>01</a:t>
            </a:r>
            <a:endParaRPr lang="en-US" altLang="en-US" sz="835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812800" y="2108200"/>
            <a:ext cx="10160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D5FF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876300" y="2171700"/>
            <a:ext cx="889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zh-CN" altLang="en-US" sz="94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</a:rPr>
              <a:t>供应商</a:t>
            </a:r>
            <a:endParaRPr lang="zh-CN" altLang="en-US" sz="945" b="1">
              <a:solidFill>
                <a:srgbClr val="24D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36600" y="2628900"/>
            <a:ext cx="1168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90000"/>
          </a:bodyPr>
          <a:p>
            <a:pPr algn="ctr"/>
            <a:r>
              <a:rPr lang="zh-CN" altLang="en-US" sz="156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提交贸易凭证</a:t>
            </a:r>
            <a:endParaRPr lang="zh-CN" altLang="en-US" sz="156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927100" y="3149600"/>
            <a:ext cx="787400" cy="635"/>
          </a:xfrm>
          <a:prstGeom prst="line">
            <a:avLst/>
          </a:prstGeom>
          <a:ln w="10160">
            <a:solidFill>
              <a:srgbClr val="24D5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711200" y="3340100"/>
            <a:ext cx="1219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发票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receivableIdHash</a:t>
            </a:r>
            <a:endParaRPr lang="en-US" altLang="zh-CN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2540000" y="1778000"/>
            <a:ext cx="1422400" cy="22860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FFCB66">
                <a:alpha val="5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3073400" y="1612900"/>
            <a:ext cx="355600" cy="355600"/>
          </a:xfrm>
          <a:prstGeom prst="ellipse">
            <a:avLst/>
          </a:prstGeom>
          <a:solidFill>
            <a:srgbClr val="FFCB66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3073400" y="17145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en-US" altLang="en-US" sz="835" b="1">
                <a:solidFill>
                  <a:srgbClr val="071426"/>
                </a:solidFill>
                <a:latin typeface="Aptos" charset="0"/>
                <a:cs typeface="Aptos" charset="0"/>
              </a:rPr>
              <a:t>02</a:t>
            </a:r>
            <a:endParaRPr lang="en-US" altLang="en-US" sz="835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2743200" y="2108200"/>
            <a:ext cx="10160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FFCB66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2806700" y="2171700"/>
            <a:ext cx="889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zh-CN" altLang="en-US" sz="945" b="1">
                <a:solidFill>
                  <a:srgbClr val="FFCB66"/>
                </a:solidFill>
                <a:latin typeface="微软雅黑" panose="020B0503020204020204" charset="-122"/>
                <a:ea typeface="微软雅黑" panose="020B0503020204020204" charset="-122"/>
              </a:rPr>
              <a:t>核心企业</a:t>
            </a:r>
            <a:endParaRPr lang="zh-CN" altLang="en-US" sz="945" b="1">
              <a:solidFill>
                <a:srgbClr val="FFCB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667000" y="2628900"/>
            <a:ext cx="1168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90000"/>
          </a:bodyPr>
          <a:p>
            <a:pPr algn="ctr"/>
            <a:r>
              <a:rPr lang="zh-CN" altLang="en-US" sz="156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确认真实债务</a:t>
            </a:r>
            <a:endParaRPr lang="zh-CN" altLang="en-US" sz="156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>
            <a:off x="2857500" y="3149600"/>
            <a:ext cx="787400" cy="635"/>
          </a:xfrm>
          <a:prstGeom prst="line">
            <a:avLst/>
          </a:prstGeom>
          <a:ln w="10160">
            <a:solidFill>
              <a:srgbClr val="FFCB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2641600" y="3340100"/>
            <a:ext cx="1219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EIP-3009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authorizationHash</a:t>
            </a:r>
            <a:endParaRPr lang="en-US" altLang="zh-CN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4470400" y="1778000"/>
            <a:ext cx="1422400" cy="22860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D5FF">
                <a:alpha val="5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5003800" y="1612900"/>
            <a:ext cx="355600" cy="355600"/>
          </a:xfrm>
          <a:prstGeom prst="ellipse">
            <a:avLst/>
          </a:prstGeom>
          <a:solidFill>
            <a:srgbClr val="24D5FF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5003800" y="17145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en-US" altLang="en-US" sz="835" b="1">
                <a:solidFill>
                  <a:srgbClr val="071426"/>
                </a:solidFill>
                <a:latin typeface="Aptos" charset="0"/>
                <a:cs typeface="Aptos" charset="0"/>
              </a:rPr>
              <a:t>03</a:t>
            </a:r>
            <a:endParaRPr lang="en-US" altLang="en-US" sz="835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4673600" y="2108200"/>
            <a:ext cx="10160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D5FF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4737100" y="2171700"/>
            <a:ext cx="889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zh-CN" altLang="en-US" sz="94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</a:rPr>
              <a:t>供应商</a:t>
            </a:r>
            <a:endParaRPr lang="zh-CN" altLang="en-US" sz="945" b="1">
              <a:solidFill>
                <a:srgbClr val="24D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597400" y="2628900"/>
            <a:ext cx="1168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90000"/>
          </a:bodyPr>
          <a:p>
            <a:pPr algn="ctr"/>
            <a:r>
              <a:rPr lang="zh-CN" altLang="en-US" sz="156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发起融资询价</a:t>
            </a:r>
            <a:endParaRPr lang="zh-CN" altLang="en-US" sz="156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4" name="直接连接符 73"/>
          <p:cNvCxnSpPr/>
          <p:nvPr/>
        </p:nvCxnSpPr>
        <p:spPr>
          <a:xfrm>
            <a:off x="4787900" y="3149600"/>
            <a:ext cx="787400" cy="635"/>
          </a:xfrm>
          <a:prstGeom prst="line">
            <a:avLst/>
          </a:prstGeom>
          <a:ln w="10160">
            <a:solidFill>
              <a:srgbClr val="24D5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4572000" y="3340100"/>
            <a:ext cx="1219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requestFinancing()
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发出源交易事件</a:t>
            </a:r>
            <a:endParaRPr lang="zh-CN" altLang="en-US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6400800" y="1778000"/>
            <a:ext cx="1422400" cy="22860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45F0C5">
                <a:alpha val="5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6934200" y="1612900"/>
            <a:ext cx="355600" cy="355600"/>
          </a:xfrm>
          <a:prstGeom prst="ellipse">
            <a:avLst/>
          </a:prstGeom>
          <a:solidFill>
            <a:srgbClr val="45F0C5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6934200" y="17145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en-US" altLang="en-US" sz="835" b="1">
                <a:solidFill>
                  <a:srgbClr val="071426"/>
                </a:solidFill>
                <a:latin typeface="Aptos" charset="0"/>
                <a:cs typeface="Aptos" charset="0"/>
              </a:rPr>
              <a:t>04</a:t>
            </a:r>
            <a:endParaRPr lang="en-US" altLang="en-US" sz="835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604000" y="2108200"/>
            <a:ext cx="10160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45F0C5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6667500" y="2171700"/>
            <a:ext cx="889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zh-CN" altLang="en-US" sz="945" b="1">
                <a:solidFill>
                  <a:srgbClr val="45F0C5"/>
                </a:solidFill>
                <a:latin typeface="微软雅黑" panose="020B0503020204020204" charset="-122"/>
                <a:ea typeface="微软雅黑" panose="020B0503020204020204" charset="-122"/>
              </a:rPr>
              <a:t>资金方</a:t>
            </a:r>
            <a:endParaRPr lang="zh-CN" altLang="en-US" sz="945" b="1">
              <a:solidFill>
                <a:srgbClr val="45F0C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6527800" y="2628900"/>
            <a:ext cx="1168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70000"/>
          </a:bodyPr>
          <a:p>
            <a:pPr algn="ctr"/>
            <a:r>
              <a:rPr lang="zh-CN" altLang="en-US" sz="178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提交无追索报价</a:t>
            </a:r>
            <a:endParaRPr lang="zh-CN" altLang="en-US" sz="178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6718300" y="3149600"/>
            <a:ext cx="787400" cy="635"/>
          </a:xfrm>
          <a:prstGeom prst="line">
            <a:avLst/>
          </a:prstGeom>
          <a:ln w="10160">
            <a:solidFill>
              <a:srgbClr val="45F0C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6502400" y="3340100"/>
            <a:ext cx="1219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submitOffer()
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本金锁入合约</a:t>
            </a:r>
            <a:endParaRPr lang="zh-CN" altLang="en-US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8331200" y="1778000"/>
            <a:ext cx="1422400" cy="22860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D5FF">
                <a:alpha val="5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椭圆 84"/>
          <p:cNvSpPr/>
          <p:nvPr/>
        </p:nvSpPr>
        <p:spPr>
          <a:xfrm>
            <a:off x="8864600" y="1612900"/>
            <a:ext cx="355600" cy="355600"/>
          </a:xfrm>
          <a:prstGeom prst="ellipse">
            <a:avLst/>
          </a:prstGeom>
          <a:solidFill>
            <a:srgbClr val="24D5FF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8864600" y="17145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en-US" altLang="en-US" sz="835" b="1">
                <a:solidFill>
                  <a:srgbClr val="071426"/>
                </a:solidFill>
                <a:latin typeface="Aptos" charset="0"/>
                <a:cs typeface="Aptos" charset="0"/>
              </a:rPr>
              <a:t>05</a:t>
            </a:r>
            <a:endParaRPr lang="en-US" altLang="en-US" sz="835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8534400" y="2108200"/>
            <a:ext cx="10160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D5FF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8597900" y="2171700"/>
            <a:ext cx="889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zh-CN" altLang="en-US" sz="94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</a:rPr>
              <a:t>供应商</a:t>
            </a:r>
            <a:endParaRPr lang="zh-CN" altLang="en-US" sz="945" b="1">
              <a:solidFill>
                <a:srgbClr val="24D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8458200" y="2628900"/>
            <a:ext cx="1168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90000"/>
          </a:bodyPr>
          <a:p>
            <a:pPr algn="ctr"/>
            <a:r>
              <a:rPr lang="zh-CN" altLang="en-US" sz="156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确认融资报价</a:t>
            </a:r>
            <a:endParaRPr lang="zh-CN" altLang="en-US" sz="156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0" name="直接连接符 89"/>
          <p:cNvCxnSpPr/>
          <p:nvPr/>
        </p:nvCxnSpPr>
        <p:spPr>
          <a:xfrm>
            <a:off x="8648700" y="3149600"/>
            <a:ext cx="787400" cy="635"/>
          </a:xfrm>
          <a:prstGeom prst="line">
            <a:avLst/>
          </a:prstGeom>
          <a:ln w="10160">
            <a:solidFill>
              <a:srgbClr val="24D5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8432800" y="3340100"/>
            <a:ext cx="1219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acceptOffer()
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放款与权属同步</a:t>
            </a:r>
            <a:endParaRPr lang="zh-CN" altLang="en-US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圆角矩形 91"/>
          <p:cNvSpPr/>
          <p:nvPr/>
        </p:nvSpPr>
        <p:spPr>
          <a:xfrm>
            <a:off x="10261600" y="1778000"/>
            <a:ext cx="1422400" cy="22860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45F0C5">
                <a:alpha val="5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椭圆 92"/>
          <p:cNvSpPr/>
          <p:nvPr/>
        </p:nvSpPr>
        <p:spPr>
          <a:xfrm>
            <a:off x="10795000" y="1612900"/>
            <a:ext cx="355600" cy="355600"/>
          </a:xfrm>
          <a:prstGeom prst="ellipse">
            <a:avLst/>
          </a:prstGeom>
          <a:solidFill>
            <a:srgbClr val="45F0C5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文本框 93"/>
          <p:cNvSpPr txBox="1"/>
          <p:nvPr/>
        </p:nvSpPr>
        <p:spPr>
          <a:xfrm>
            <a:off x="10795000" y="17145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en-US" altLang="en-US" sz="835" b="1">
                <a:solidFill>
                  <a:srgbClr val="071426"/>
                </a:solidFill>
                <a:latin typeface="Aptos" charset="0"/>
                <a:cs typeface="Aptos" charset="0"/>
              </a:rPr>
              <a:t>06</a:t>
            </a:r>
            <a:endParaRPr lang="en-US" altLang="en-US" sz="835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10464800" y="2108200"/>
            <a:ext cx="10160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45F0C5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10528300" y="2171700"/>
            <a:ext cx="889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zh-CN" altLang="en-US" sz="945" b="1">
                <a:solidFill>
                  <a:srgbClr val="45F0C5"/>
                </a:solidFill>
                <a:latin typeface="微软雅黑" panose="020B0503020204020204" charset="-122"/>
                <a:ea typeface="微软雅黑" panose="020B0503020204020204" charset="-122"/>
              </a:rPr>
              <a:t>资金方</a:t>
            </a:r>
            <a:endParaRPr lang="zh-CN" altLang="en-US" sz="945" b="1">
              <a:solidFill>
                <a:srgbClr val="45F0C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10388600" y="2628900"/>
            <a:ext cx="1168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zh-CN" altLang="en-US" sz="139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到期兑付</a:t>
            </a:r>
            <a:endParaRPr lang="zh-CN" altLang="en-US" sz="139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10579100" y="3149600"/>
            <a:ext cx="787400" cy="635"/>
          </a:xfrm>
          <a:prstGeom prst="line">
            <a:avLst/>
          </a:prstGeom>
          <a:ln w="10160">
            <a:solidFill>
              <a:srgbClr val="45F0C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10363200" y="3340100"/>
            <a:ext cx="1219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settleWithAuthorization()
claim()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钱包领取</a:t>
            </a:r>
            <a:endParaRPr lang="zh-CN" altLang="en-US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609600" y="4381500"/>
            <a:ext cx="10972800" cy="13716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3B82F6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矩形 100"/>
          <p:cNvSpPr/>
          <p:nvPr/>
        </p:nvSpPr>
        <p:spPr>
          <a:xfrm>
            <a:off x="609600" y="4381500"/>
            <a:ext cx="76200" cy="1371600"/>
          </a:xfrm>
          <a:prstGeom prst="rect">
            <a:avLst/>
          </a:prstGeom>
          <a:solidFill>
            <a:srgbClr val="24D5FF"/>
          </a:solidFill>
          <a:ln w="12700">
            <a:solidFill>
              <a:srgbClr val="24D5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889000" y="4635500"/>
            <a:ext cx="3810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en-US" altLang="en-US" sz="15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ATTESTCOIN PROTOCOL · CC3 </a:t>
            </a:r>
            <a:r>
              <a:rPr lang="zh-CN" altLang="en-US" sz="15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执行轨道</a:t>
            </a:r>
            <a:endParaRPr lang="zh-CN" altLang="en-US" sz="15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89000" y="5041900"/>
            <a:ext cx="4064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50000"/>
          </a:bodyPr>
          <a:p>
            <a:pPr algn="l"/>
            <a:r>
              <a:rPr lang="zh-CN" altLang="en-US" sz="17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</a:rPr>
              <a:t>两份核心合约承接六次协议写入；业务状态以链上记录为准，本地数据只做缓存。</a:t>
            </a:r>
            <a:endParaRPr lang="zh-CN" altLang="en-US" sz="176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5207000" y="4711700"/>
            <a:ext cx="14224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FFCB66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5270500" y="4775200"/>
            <a:ext cx="1295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50000"/>
          </a:bodyPr>
          <a:p>
            <a:pPr algn="ctr"/>
            <a:r>
              <a:rPr lang="en-US" altLang="en-US" sz="1700" b="1">
                <a:solidFill>
                  <a:srgbClr val="FFCB66"/>
                </a:solidFill>
                <a:latin typeface="微软雅黑" panose="020B0503020204020204" charset="-122"/>
                <a:ea typeface="微软雅黑" panose="020B0503020204020204" charset="-122"/>
              </a:rPr>
              <a:t>REQUEST FINANCING</a:t>
            </a:r>
            <a:endParaRPr lang="en-US" altLang="en-US" sz="1700" b="1">
              <a:solidFill>
                <a:srgbClr val="FFCB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6756400" y="4711700"/>
            <a:ext cx="14224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45F0C5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6819900" y="4775200"/>
            <a:ext cx="1295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80000"/>
          </a:bodyPr>
          <a:p>
            <a:pPr algn="ctr"/>
            <a:r>
              <a:rPr lang="en-US" altLang="en-US" sz="1415" b="1">
                <a:solidFill>
                  <a:srgbClr val="45F0C5"/>
                </a:solidFill>
                <a:latin typeface="微软雅黑" panose="020B0503020204020204" charset="-122"/>
                <a:ea typeface="微软雅黑" panose="020B0503020204020204" charset="-122"/>
              </a:rPr>
              <a:t>REGISTER PROOF</a:t>
            </a:r>
            <a:endParaRPr lang="en-US" altLang="en-US" sz="1415" b="1">
              <a:solidFill>
                <a:srgbClr val="45F0C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8305800" y="4711700"/>
            <a:ext cx="14224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D5FF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8369300" y="4775200"/>
            <a:ext cx="1295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800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</a:rPr>
              <a:t>SUBMIT / ACCEPT OFFER</a:t>
            </a:r>
            <a:endParaRPr lang="en-US" altLang="en-US" sz="800" b="1">
              <a:solidFill>
                <a:srgbClr val="24D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圆角矩形 109"/>
          <p:cNvSpPr/>
          <p:nvPr/>
        </p:nvSpPr>
        <p:spPr>
          <a:xfrm>
            <a:off x="9855200" y="4711700"/>
            <a:ext cx="1422400" cy="2794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3B82F6">
                <a:alpha val="6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/>
        </p:nvSpPr>
        <p:spPr>
          <a:xfrm>
            <a:off x="9918700" y="4775200"/>
            <a:ext cx="1295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en-US" altLang="en-US" sz="1215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SETTLE / CLAIM</a:t>
            </a:r>
            <a:endParaRPr lang="en-US" altLang="en-US" sz="1215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270500" y="5270500"/>
            <a:ext cx="571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000" b="1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</a:rPr>
              <a:t>贸易流</a:t>
            </a:r>
            <a:endParaRPr lang="zh-CN" altLang="en-US" sz="1000" b="1">
              <a:solidFill>
                <a:srgbClr val="78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3" name="直接连接符 112"/>
          <p:cNvCxnSpPr/>
          <p:nvPr/>
        </p:nvCxnSpPr>
        <p:spPr>
          <a:xfrm>
            <a:off x="5842000" y="5359400"/>
            <a:ext cx="952500" cy="635"/>
          </a:xfrm>
          <a:prstGeom prst="line">
            <a:avLst/>
          </a:prstGeom>
          <a:ln w="12700">
            <a:solidFill>
              <a:srgbClr val="24D5FF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4" name="文本框 113"/>
          <p:cNvSpPr txBox="1"/>
          <p:nvPr/>
        </p:nvSpPr>
        <p:spPr>
          <a:xfrm>
            <a:off x="6985000" y="5270500"/>
            <a:ext cx="571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000" b="1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</a:rPr>
              <a:t>资金流</a:t>
            </a:r>
            <a:endParaRPr lang="zh-CN" altLang="en-US" sz="1000" b="1">
              <a:solidFill>
                <a:srgbClr val="78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5" name="直接连接符 114"/>
          <p:cNvCxnSpPr/>
          <p:nvPr/>
        </p:nvCxnSpPr>
        <p:spPr>
          <a:xfrm>
            <a:off x="7556500" y="5359400"/>
            <a:ext cx="952500" cy="635"/>
          </a:xfrm>
          <a:prstGeom prst="line">
            <a:avLst/>
          </a:prstGeom>
          <a:ln w="12700">
            <a:solidFill>
              <a:srgbClr val="45F0C5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>
          <a:xfrm>
            <a:off x="8699500" y="5270500"/>
            <a:ext cx="571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000" b="1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</a:rPr>
              <a:t>信任流</a:t>
            </a:r>
            <a:endParaRPr lang="zh-CN" altLang="en-US" sz="1000" b="1">
              <a:solidFill>
                <a:srgbClr val="78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7" name="直接连接符 116"/>
          <p:cNvCxnSpPr/>
          <p:nvPr/>
        </p:nvCxnSpPr>
        <p:spPr>
          <a:xfrm>
            <a:off x="9271000" y="5359400"/>
            <a:ext cx="952500" cy="635"/>
          </a:xfrm>
          <a:prstGeom prst="line">
            <a:avLst/>
          </a:prstGeom>
          <a:ln w="12700">
            <a:solidFill>
              <a:srgbClr val="FFCB6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609600" y="6019800"/>
            <a:ext cx="109728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zh-CN" altLang="en-US" sz="116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</a:t>
            </a:r>
            <a:r>
              <a:rPr lang="en-US" altLang="zh-CN" sz="116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16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链上存证</a:t>
            </a:r>
            <a:r>
              <a:rPr lang="en-US" altLang="zh-CN" sz="116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 ·  </a:t>
            </a:r>
            <a:r>
              <a:rPr lang="zh-CN" altLang="en-US" sz="116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</a:t>
            </a:r>
            <a:r>
              <a:rPr lang="en-US" altLang="zh-CN" sz="116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Attestcoin </a:t>
            </a:r>
            <a:r>
              <a:rPr lang="zh-CN" altLang="en-US" sz="1165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原生融资与兑付闭环</a:t>
            </a:r>
            <a:endParaRPr lang="zh-CN" altLang="en-US" sz="1165" b="1">
              <a:solidFill>
                <a:srgbClr val="24D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71426"/>
                </a:solid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4D5FF"/>
          </a:solidFill>
          <a:ln w="12700">
            <a:solidFill>
              <a:srgbClr val="24D5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09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066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524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981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95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352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810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267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724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181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38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96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553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010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467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924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382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839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9296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9753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0210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0668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1125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1582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81000" y="431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81000" y="889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1000" y="1346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81000" y="1803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81000" y="22606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81000" y="2717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81000" y="3175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381000" y="3632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381000" y="4089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81000" y="45466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81000" y="5003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381000" y="5461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81000" y="5918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81000" y="6375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0" y="50800"/>
            <a:ext cx="12192000" cy="6413500"/>
          </a:xfrm>
          <a:prstGeom prst="rect">
            <a:avLst/>
          </a:prstGeom>
          <a:solidFill>
            <a:srgbClr val="071426">
              <a:alpha val="90000"/>
            </a:srgbClr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71426"/>
                </a:solid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609600" y="6502400"/>
            <a:ext cx="10972800" cy="635"/>
          </a:xfrm>
          <a:prstGeom prst="line">
            <a:avLst/>
          </a:prstGeom>
          <a:ln w="9525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609600" y="6578600"/>
            <a:ext cx="1206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en-US" altLang="en-US" sz="835" b="1">
                <a:solidFill>
                  <a:srgbClr val="7894AF"/>
                </a:solidFill>
                <a:latin typeface="Aptos" charset="0"/>
                <a:cs typeface="Aptos" charset="0"/>
              </a:rPr>
              <a:t>ATTESTFLOW</a:t>
            </a:r>
            <a:endParaRPr lang="en-US" altLang="en-US" sz="835" b="1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9740900" y="6578600"/>
            <a:ext cx="1587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80000"/>
          </a:bodyPr>
          <a:p>
            <a:pPr algn="r"/>
            <a:r>
              <a:rPr lang="en-US" altLang="en-US" sz="1250" b="1">
                <a:solidFill>
                  <a:srgbClr val="7894AF"/>
                </a:solidFill>
                <a:latin typeface="Aptos" charset="0"/>
                <a:cs typeface="Aptos" charset="0"/>
              </a:rPr>
              <a:t>ATTESTCOIN PROTOCOL</a:t>
            </a:r>
            <a:endParaRPr lang="en-US" altLang="en-US" sz="1250" b="1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1493500" y="6578600"/>
            <a:ext cx="1524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r"/>
            <a:r>
              <a:rPr lang="en-US" altLang="en-US" sz="835">
                <a:solidFill>
                  <a:srgbClr val="7894AF"/>
                </a:solidFill>
                <a:latin typeface="Aptos" charset="0"/>
                <a:cs typeface="Aptos" charset="0"/>
              </a:rPr>
              <a:t>2</a:t>
            </a:r>
            <a:endParaRPr lang="en-US" altLang="en-US" sz="835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622300" y="355600"/>
            <a:ext cx="4318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en-US" altLang="en-US" sz="945" b="1" spc="150">
                <a:solidFill>
                  <a:srgbClr val="24D5FF"/>
                </a:solidFill>
                <a:latin typeface="Aptos" charset="0"/>
                <a:cs typeface="Aptos" charset="0"/>
              </a:rPr>
              <a:t>02  /  PROTOCOL DEPTH</a:t>
            </a:r>
            <a:endParaRPr lang="en-US" altLang="en-US" sz="945" b="1" spc="150">
              <a:solidFill>
                <a:srgbClr val="24D5FF"/>
              </a:solidFill>
              <a:latin typeface="Aptos" charset="0"/>
              <a:cs typeface="Aptos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09600" y="660400"/>
            <a:ext cx="109728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l"/>
            <a:r>
              <a:rPr lang="en-US" altLang="en-US" sz="23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Attestcoin </a:t>
            </a:r>
            <a:r>
              <a:rPr lang="zh-CN" altLang="en-US" sz="23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深度使用：两份合约，六次写入，一条完整生命周期</a:t>
            </a:r>
            <a:endParaRPr lang="zh-CN" altLang="en-US" sz="23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22300" y="1282700"/>
            <a:ext cx="10795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165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</a:rPr>
              <a:t>从源交易证明到融资状态机，再到防重放结算，协议不是装饰层，而是业务事实的最终来源。</a:t>
            </a:r>
            <a:endParaRPr lang="zh-CN" altLang="en-US" sz="1165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609600" y="1752600"/>
            <a:ext cx="2768600" cy="1625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D5FF">
                <a:alpha val="5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787400" y="19304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90000"/>
          </a:bodyPr>
          <a:p>
            <a:pPr algn="l"/>
            <a:r>
              <a:rPr lang="en-US" altLang="en-US" sz="1890" b="1">
                <a:solidFill>
                  <a:srgbClr val="24D5FF"/>
                </a:solidFill>
                <a:latin typeface="Aptos Display" charset="0"/>
                <a:cs typeface="Aptos Display" charset="0"/>
              </a:rPr>
              <a:t>01</a:t>
            </a:r>
            <a:endParaRPr lang="en-US" altLang="en-US" sz="1890" b="1">
              <a:solidFill>
                <a:srgbClr val="24D5F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308100" y="1981200"/>
            <a:ext cx="1841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80000"/>
          </a:bodyPr>
          <a:p>
            <a:pPr algn="l"/>
            <a:r>
              <a:rPr lang="en-US" altLang="en-US" sz="1200" b="1" spc="70">
                <a:solidFill>
                  <a:srgbClr val="7894AF"/>
                </a:solidFill>
                <a:latin typeface="Aptos" charset="0"/>
                <a:cs typeface="Aptos" charset="0"/>
              </a:rPr>
              <a:t>NATIVE FINANCING STATE</a:t>
            </a:r>
            <a:endParaRPr lang="en-US" altLang="en-US" sz="1200" b="1" spc="7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787400" y="2387600"/>
            <a:ext cx="2413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35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原生融资状态机</a:t>
            </a:r>
            <a:endParaRPr lang="zh-CN" altLang="en-US" sz="135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87400" y="2794000"/>
            <a:ext cx="2413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l"/>
            <a:r>
              <a:rPr lang="en-US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requestFinancing → submitOffer → acceptOffer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；请求、定价、本金托管与成交状态全部在协议内。</a:t>
            </a:r>
            <a:endParaRPr lang="zh-CN" altLang="en-US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3683000" y="1752600"/>
            <a:ext cx="2768600" cy="1625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FFCB66">
                <a:alpha val="5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3860800" y="19304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90000"/>
          </a:bodyPr>
          <a:p>
            <a:pPr algn="l"/>
            <a:r>
              <a:rPr lang="en-US" altLang="en-US" sz="1890" b="1">
                <a:solidFill>
                  <a:srgbClr val="FFCB66"/>
                </a:solidFill>
                <a:latin typeface="Aptos Display" charset="0"/>
                <a:cs typeface="Aptos Display" charset="0"/>
              </a:rPr>
              <a:t>02</a:t>
            </a:r>
            <a:endParaRPr lang="en-US" altLang="en-US" sz="1890" b="1">
              <a:solidFill>
                <a:srgbClr val="FFCB66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4381500" y="1981200"/>
            <a:ext cx="1841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70000"/>
          </a:bodyPr>
          <a:p>
            <a:pPr algn="l"/>
            <a:r>
              <a:rPr lang="en-US" altLang="en-US" sz="1200" b="1" spc="70">
                <a:solidFill>
                  <a:srgbClr val="7894AF"/>
                </a:solidFill>
                <a:latin typeface="Aptos" charset="0"/>
                <a:cs typeface="Aptos" charset="0"/>
              </a:rPr>
              <a:t>THREE-LAYER ATTESTATION</a:t>
            </a:r>
            <a:endParaRPr lang="en-US" altLang="en-US" sz="1200" b="1" spc="7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860800" y="2387600"/>
            <a:ext cx="2413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35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三层审计证据绑定</a:t>
            </a:r>
            <a:endParaRPr lang="zh-CN" altLang="en-US" sz="135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860800" y="2794000"/>
            <a:ext cx="2413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l"/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源交易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授权哈希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区块哈希生成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evidenceHash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，再由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registerProof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写入不可变注册表。</a:t>
            </a:r>
            <a:endParaRPr lang="zh-CN" altLang="en-US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609600" y="3683000"/>
            <a:ext cx="2768600" cy="1625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45F0C5">
                <a:alpha val="5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787400" y="38608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90000"/>
          </a:bodyPr>
          <a:p>
            <a:pPr algn="l"/>
            <a:r>
              <a:rPr lang="en-US" altLang="en-US" sz="1890" b="1">
                <a:solidFill>
                  <a:srgbClr val="45F0C5"/>
                </a:solidFill>
                <a:latin typeface="Aptos Display" charset="0"/>
                <a:cs typeface="Aptos Display" charset="0"/>
              </a:rPr>
              <a:t>03</a:t>
            </a:r>
            <a:endParaRPr lang="en-US" altLang="en-US" sz="1890" b="1">
              <a:solidFill>
                <a:srgbClr val="45F0C5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308100" y="3911600"/>
            <a:ext cx="1841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40000"/>
          </a:bodyPr>
          <a:p>
            <a:pPr algn="l"/>
            <a:r>
              <a:rPr lang="en-US" altLang="en-US" b="1" spc="70">
                <a:solidFill>
                  <a:srgbClr val="7894AF"/>
                </a:solidFill>
                <a:latin typeface="Aptos" charset="0"/>
                <a:cs typeface="Aptos" charset="0"/>
              </a:rPr>
              <a:t>ATOMIC DELIVERY VERSUS PAYMENT</a:t>
            </a:r>
            <a:endParaRPr lang="en-US" altLang="en-US" b="1" spc="7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87400" y="4318000"/>
            <a:ext cx="2413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35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原子放款与权属更新</a:t>
            </a:r>
            <a:endParaRPr lang="zh-CN" altLang="en-US" sz="135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87400" y="4724400"/>
            <a:ext cx="2413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l"/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</a:rPr>
              <a:t>报价先锁定精确本金；供应商接受后自动放款，并将资金方固化为到期结算接收人。</a:t>
            </a:r>
            <a:endParaRPr lang="zh-CN" altLang="en-US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3683000" y="3683000"/>
            <a:ext cx="2768600" cy="1625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3B82F6">
                <a:alpha val="5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3860800" y="38608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90000"/>
          </a:bodyPr>
          <a:p>
            <a:pPr algn="l"/>
            <a:r>
              <a:rPr lang="en-US" altLang="en-US" sz="1890" b="1">
                <a:solidFill>
                  <a:srgbClr val="3B82F6"/>
                </a:solidFill>
                <a:latin typeface="Aptos Display" charset="0"/>
                <a:cs typeface="Aptos Display" charset="0"/>
              </a:rPr>
              <a:t>04</a:t>
            </a:r>
            <a:endParaRPr lang="en-US" altLang="en-US" sz="1890" b="1">
              <a:solidFill>
                <a:srgbClr val="3B82F6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381500" y="3911600"/>
            <a:ext cx="1841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 fontScale="80000"/>
          </a:bodyPr>
          <a:p>
            <a:pPr algn="l"/>
            <a:r>
              <a:rPr lang="en-US" altLang="en-US" sz="1200" b="1" spc="70">
                <a:solidFill>
                  <a:srgbClr val="7894AF"/>
                </a:solidFill>
                <a:latin typeface="Aptos" charset="0"/>
                <a:cs typeface="Aptos" charset="0"/>
              </a:rPr>
              <a:t>REPLAY-SAFE SETTLEMENT</a:t>
            </a:r>
            <a:endParaRPr lang="en-US" altLang="en-US" sz="1200" b="1" spc="7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860800" y="4318000"/>
            <a:ext cx="2413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35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防重放到期结算</a:t>
            </a:r>
            <a:endParaRPr lang="zh-CN" altLang="en-US" sz="135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860800" y="4724400"/>
            <a:ext cx="2413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l"/>
            <a:r>
              <a:rPr lang="en-US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settleWithAuthorization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校验窗口、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nonce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与收款人；</a:t>
            </a:r>
            <a:r>
              <a:rPr lang="en-US" altLang="zh-CN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claimable + claim </a:t>
            </a:r>
            <a:r>
              <a:rPr lang="zh-CN" altLang="en-US" sz="8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确保资金不可重定向。</a:t>
            </a:r>
            <a:endParaRPr lang="zh-CN" altLang="en-US" sz="8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6781800" y="1752600"/>
            <a:ext cx="4800600" cy="3556000"/>
          </a:xfrm>
          <a:prstGeom prst="roundRect">
            <a:avLst/>
          </a:prstGeom>
          <a:solidFill>
            <a:srgbClr val="0A1D32"/>
          </a:solidFill>
          <a:ln w="12700">
            <a:solidFill>
              <a:srgbClr val="24D5FF">
                <a:alpha val="6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7112000" y="2032000"/>
            <a:ext cx="4140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ctr"/>
            <a:r>
              <a:rPr lang="en-US" altLang="en-US" sz="890" b="1" spc="140">
                <a:solidFill>
                  <a:srgbClr val="24D5FF"/>
                </a:solidFill>
                <a:latin typeface="Aptos" charset="0"/>
                <a:cs typeface="Aptos" charset="0"/>
              </a:rPr>
              <a:t>THE WINNING FORMULA</a:t>
            </a:r>
            <a:endParaRPr lang="en-US" altLang="en-US" sz="890" b="1" spc="140">
              <a:solidFill>
                <a:srgbClr val="24D5FF"/>
              </a:solidFill>
              <a:latin typeface="Aptos" charset="0"/>
              <a:cs typeface="Aptos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7429500" y="2565400"/>
            <a:ext cx="3505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17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17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份核心合约</a:t>
            </a:r>
            <a:endParaRPr lang="zh-CN" altLang="en-US" sz="17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8331200" y="3009900"/>
            <a:ext cx="1714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2100" b="1">
                <a:solidFill>
                  <a:srgbClr val="24D5FF"/>
                </a:solidFill>
                <a:latin typeface="Aptos" charset="0"/>
                <a:cs typeface="Aptos" charset="0"/>
              </a:rPr>
              <a:t>+</a:t>
            </a:r>
            <a:endParaRPr lang="en-US" altLang="en-US" sz="2100" b="1">
              <a:solidFill>
                <a:srgbClr val="24D5FF"/>
              </a:solidFill>
              <a:latin typeface="Aptos" charset="0"/>
              <a:cs typeface="Aptos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429500" y="3429000"/>
            <a:ext cx="3505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17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lang="zh-CN" altLang="en-US" sz="17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次协议写入</a:t>
            </a:r>
            <a:endParaRPr lang="zh-CN" altLang="en-US" sz="17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331200" y="3873500"/>
            <a:ext cx="17145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2100" b="1">
                <a:solidFill>
                  <a:srgbClr val="45F0C5"/>
                </a:solidFill>
                <a:latin typeface="Aptos" charset="0"/>
                <a:cs typeface="Aptos" charset="0"/>
              </a:rPr>
              <a:t>+</a:t>
            </a:r>
            <a:endParaRPr lang="en-US" altLang="en-US" sz="2100" b="1">
              <a:solidFill>
                <a:srgbClr val="45F0C5"/>
              </a:solidFill>
              <a:latin typeface="Aptos" charset="0"/>
              <a:cs typeface="Aptos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429500" y="4292600"/>
            <a:ext cx="3505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en-US" altLang="en-US" sz="17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17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条完整生命周期</a:t>
            </a:r>
            <a:endParaRPr lang="zh-CN" altLang="en-US" sz="17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7620000" y="4775200"/>
            <a:ext cx="3124200" cy="635"/>
          </a:xfrm>
          <a:prstGeom prst="line">
            <a:avLst/>
          </a:prstGeom>
          <a:ln w="12700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7239000" y="4940300"/>
            <a:ext cx="38862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Autofit/>
          </a:bodyPr>
          <a:p>
            <a:pPr algn="ctr"/>
            <a:r>
              <a:rPr lang="zh-CN" altLang="en-US" b="1">
                <a:solidFill>
                  <a:srgbClr val="FFCB66"/>
                </a:solidFill>
                <a:latin typeface="微软雅黑" panose="020B0503020204020204" charset="-122"/>
                <a:ea typeface="微软雅黑" panose="020B0503020204020204" charset="-122"/>
              </a:rPr>
              <a:t>深度使用，不是贴牌集成</a:t>
            </a:r>
            <a:endParaRPr lang="zh-CN" altLang="en-US" b="1">
              <a:solidFill>
                <a:srgbClr val="FFCB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609600" y="5524500"/>
            <a:ext cx="10972800" cy="7366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4666">
                <a:alpha val="7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889000" y="5676900"/>
            <a:ext cx="762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890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</a:rPr>
              <a:t>供应商</a:t>
            </a:r>
            <a:endParaRPr lang="zh-CN" altLang="en-US" sz="890" b="1">
              <a:solidFill>
                <a:srgbClr val="24D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889000" y="5918200"/>
            <a:ext cx="2921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13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更快获得低成本流动性</a:t>
            </a:r>
            <a:endParaRPr lang="zh-CN" altLang="en-US" sz="113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483100" y="5676900"/>
            <a:ext cx="762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000" b="1">
                <a:solidFill>
                  <a:srgbClr val="FFCB66"/>
                </a:solidFill>
                <a:latin typeface="微软雅黑" panose="020B0503020204020204" charset="-122"/>
                <a:ea typeface="微软雅黑" panose="020B0503020204020204" charset="-122"/>
              </a:rPr>
              <a:t>核心企业</a:t>
            </a:r>
            <a:endParaRPr lang="zh-CN" altLang="en-US" sz="1000" b="1">
              <a:solidFill>
                <a:srgbClr val="FFCB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483100" y="5918200"/>
            <a:ext cx="2921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13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资金留存至真实到期日</a:t>
            </a:r>
            <a:endParaRPr lang="zh-CN" altLang="en-US" sz="113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8077200" y="5676900"/>
            <a:ext cx="762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890" b="1">
                <a:solidFill>
                  <a:srgbClr val="45F0C5"/>
                </a:solidFill>
                <a:latin typeface="微软雅黑" panose="020B0503020204020204" charset="-122"/>
                <a:ea typeface="微软雅黑" panose="020B0503020204020204" charset="-122"/>
              </a:rPr>
              <a:t>资金方</a:t>
            </a:r>
            <a:endParaRPr lang="zh-CN" altLang="en-US" sz="890" b="1">
              <a:solidFill>
                <a:srgbClr val="45F0C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077200" y="5918200"/>
            <a:ext cx="2921000" cy="322580"/>
          </a:xfrm>
          <a:prstGeom prst="rect">
            <a:avLst/>
          </a:prstGeom>
          <a:noFill/>
        </p:spPr>
        <p:txBody>
          <a:bodyPr wrap="square" lIns="0" tIns="0" rIns="0" rtlCol="0" anchor="t">
            <a:normAutofit/>
          </a:bodyPr>
          <a:p>
            <a:pPr algn="l"/>
            <a:r>
              <a:rPr lang="zh-CN" altLang="en-US" sz="1135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获得可验证债权与兑付</a:t>
            </a:r>
            <a:endParaRPr lang="zh-CN" altLang="en-US" sz="1135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7" name="直接连接符 86"/>
          <p:cNvCxnSpPr/>
          <p:nvPr/>
        </p:nvCxnSpPr>
        <p:spPr>
          <a:xfrm>
            <a:off x="4191000" y="5676900"/>
            <a:ext cx="635" cy="444500"/>
          </a:xfrm>
          <a:prstGeom prst="line">
            <a:avLst/>
          </a:prstGeom>
          <a:ln w="10160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7785100" y="5676900"/>
            <a:ext cx="635" cy="444500"/>
          </a:xfrm>
          <a:prstGeom prst="line">
            <a:avLst/>
          </a:prstGeom>
          <a:ln w="10160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WPS 演示</Application>
  <PresentationFormat>宽屏</PresentationFormat>
  <Paragraphs>150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Aptos</vt:lpstr>
      <vt:lpstr>Segoe UI</vt:lpstr>
      <vt:lpstr>Aptos Display</vt:lpstr>
      <vt:lpstr>Segoe UI Variable Display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phily</dc:creator>
  <cp:lastModifiedBy>phil</cp:lastModifiedBy>
  <cp:revision>157</cp:revision>
  <dcterms:created xsi:type="dcterms:W3CDTF">2019-06-19T02:08:00Z</dcterms:created>
  <dcterms:modified xsi:type="dcterms:W3CDTF">2026-08-24T02:37:44Z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3D00769733084611AF4D6CB30911193A_11</vt:lpwstr>
  </property>
</Properties>
</file>